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Person delay (s)</c:v>
                </c:pt>
              </c:strCache>
            </c:strRef>
          </c:tx>
          <c:dPt>
            <c:idx val="0"/>
            <c:spPr>
              <a:solidFill>
                <a:srgbClr val="A9B6BE"/>
              </a:solidFill>
            </c:spPr>
          </c:dPt>
          <c:dPt>
            <c:idx val="1"/>
            <c:spPr>
              <a:solidFill>
                <a:srgbClr val="7C8C96"/>
              </a:solidFill>
            </c:spPr>
          </c:dPt>
          <c:dPt>
            <c:idx val="2"/>
            <c:spPr>
              <a:solidFill>
                <a:srgbClr val="0B6E69"/>
              </a:solidFill>
            </c:spPr>
          </c:dPt>
          <c:dPt>
            <c:idx val="3"/>
            <c:spPr>
              <a:solidFill>
                <a:srgbClr val="5FB8B0"/>
              </a:solidFill>
            </c:spPr>
          </c:dPt>
          <c:dLbls>
            <c:dLbl>
              <c:idx val="0"/>
              <c:tx>
                <c:rich>
                  <a:bodyPr/>
                  <a:lstStyle/>
                  <a:p>
                    <a:r>
                      <a:rPr sz="1300" b="1">
                        <a:solidFill>
                          <a:srgbClr val="1F2A33"/>
                        </a:solidFill>
                        <a:latin typeface="Calibri"/>
                      </a:rPr>
                      <a:t>63.6 s</a:t>
                    </a:r>
                  </a:p>
                </c:rich>
              </c:tx>
              <c:dLblPos val="outEnd"/>
              <c:showLegendKey val="0"/>
              <c:showVal val="1"/>
              <c:showCatName val="0"/>
              <c:showSerName val="0"/>
              <c:showPercent val="0"/>
              <c:showBubbleSize val="0"/>
            </c:dLbl>
            <c:dLbl>
              <c:idx val="1"/>
              <c:tx>
                <c:rich>
                  <a:bodyPr/>
                  <a:lstStyle/>
                  <a:p>
                    <a:r>
                      <a:rPr sz="1300" b="1">
                        <a:solidFill>
                          <a:srgbClr val="1F2A33"/>
                        </a:solidFill>
                        <a:latin typeface="Calibri"/>
                      </a:rPr>
                      <a:t>57.1 s</a:t>
                    </a:r>
                  </a:p>
                </c:rich>
              </c:tx>
              <c:dLblPos val="outEnd"/>
              <c:showLegendKey val="0"/>
              <c:showVal val="1"/>
              <c:showCatName val="0"/>
              <c:showSerName val="0"/>
              <c:showPercent val="0"/>
              <c:showBubbleSize val="0"/>
            </c:dLbl>
            <c:dLbl>
              <c:idx val="2"/>
              <c:tx>
                <c:rich>
                  <a:bodyPr/>
                  <a:lstStyle/>
                  <a:p>
                    <a:r>
                      <a:rPr sz="1300" b="1">
                        <a:solidFill>
                          <a:srgbClr val="1F2A33"/>
                        </a:solidFill>
                        <a:latin typeface="Calibri"/>
                      </a:rPr>
                      <a:t>48.9 s</a:t>
                    </a:r>
                  </a:p>
                </c:rich>
              </c:tx>
              <c:dLblPos val="outEnd"/>
              <c:showLegendKey val="0"/>
              <c:showVal val="1"/>
              <c:showCatName val="0"/>
              <c:showSerName val="0"/>
              <c:showPercent val="0"/>
              <c:showBubbleSize val="0"/>
            </c:dLbl>
            <c:dLbl>
              <c:idx val="3"/>
              <c:tx>
                <c:rich>
                  <a:bodyPr/>
                  <a:lstStyle/>
                  <a:p>
                    <a:r>
                      <a:rPr sz="1300" b="1">
                        <a:solidFill>
                          <a:srgbClr val="1F2A33"/>
                        </a:solidFill>
                        <a:latin typeface="Calibri"/>
                      </a:rPr>
                      <a:t>46.0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S0 fixed</c:v>
                </c:pt>
                <c:pt idx="1">
                  <c:v>S1 actuated</c:v>
                </c:pt>
                <c:pt idx="2">
                  <c:v>S2 rules</c:v>
                </c:pt>
                <c:pt idx="3">
                  <c:v>S3 RL</c:v>
                </c:pt>
              </c:strCache>
            </c:strRef>
          </c:cat>
          <c:val>
            <c:numRef>
              <c:f>Sheet1!$B$2:$B$5</c:f>
              <c:numCache>
                <c:formatCode>General</c:formatCode>
                <c:ptCount val="4"/>
                <c:pt idx="0">
                  <c:v>63.6</c:v>
                </c:pt>
                <c:pt idx="1">
                  <c:v>57.1</c:v>
                </c:pt>
                <c:pt idx="2">
                  <c:v>48.9</c:v>
                </c:pt>
                <c:pt idx="3">
                  <c:v>46.0</c:v>
                </c:pt>
              </c:numCache>
            </c:numRef>
          </c:val>
        </c:ser>
        <c:dLbls>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low"/>
        <c:spPr>
          <a:ln>
            <a:solidFill>
              <a:srgbClr val="C9D2D8"/>
            </a:solidFill>
          </a:ln>
        </c:spPr>
        <c:txPr>
          <a:bodyPr/>
          <a:lstStyle/>
          <a:p>
            <a:pPr>
              <a:defRPr sz="1300"/>
            </a:pPr>
          </a:p>
        </c:txPr>
        <c:crossAx val="-2113994440"/>
        <c:crosses val="autoZero"/>
        <c:auto val="1"/>
        <c:lblAlgn val="ctr"/>
        <c:lblOffset val="100"/>
        <c:noMultiLvlLbl val="0"/>
      </c:catAx>
      <c:valAx>
        <c:axId val="-2113994440"/>
        <c:scaling/>
        <c:delete val="0"/>
        <c:axPos val="l"/>
        <c:majorGridlines>
          <c:spPr>
            <a:ln>
              <a:solidFill>
                <a:srgbClr val="E1E6E9"/>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5B67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S1 actuated</c:v>
                </c:pt>
              </c:strCache>
            </c:strRef>
          </c:tx>
          <c:spPr>
            <a:solidFill>
              <a:srgbClr val="7C8C96"/>
            </a:solidFill>
          </c:spPr>
          <c:dLbls>
            <c:dLbl>
              <c:idx val="0"/>
              <c:tx>
                <c:rich>
                  <a:bodyPr/>
                  <a:lstStyle/>
                  <a:p>
                    <a:r>
                      <a:rPr sz="1100" b="1">
                        <a:solidFill>
                          <a:srgbClr val="1F2A33"/>
                        </a:solidFill>
                        <a:latin typeface="Calibri"/>
                      </a:rPr>
                      <a:t>-13.3 %</a:t>
                    </a:r>
                  </a:p>
                </c:rich>
              </c:tx>
              <c:dLblPos val="outEnd"/>
              <c:showLegendKey val="0"/>
              <c:showVal val="1"/>
              <c:showCatName val="0"/>
              <c:showSerName val="0"/>
              <c:showPercent val="0"/>
              <c:showBubbleSize val="0"/>
            </c:dLbl>
            <c:dLbl>
              <c:idx val="1"/>
              <c:tx>
                <c:rich>
                  <a:bodyPr/>
                  <a:lstStyle/>
                  <a:p>
                    <a:r>
                      <a:rPr sz="1100" b="1">
                        <a:solidFill>
                          <a:srgbClr val="1F2A33"/>
                        </a:solidFill>
                        <a:latin typeface="Calibri"/>
                      </a:rPr>
                      <a:t>+2.5 %</a:t>
                    </a:r>
                  </a:p>
                </c:rich>
              </c:tx>
              <c:dLblPos val="outEnd"/>
              <c:showLegendKey val="0"/>
              <c:showVal val="1"/>
              <c:showCatName val="0"/>
              <c:showSerName val="0"/>
              <c:showPercent val="0"/>
              <c:showBubbleSize val="0"/>
            </c:dLbl>
            <c:dLbl>
              <c:idx val="2"/>
              <c:tx>
                <c:rich>
                  <a:bodyPr/>
                  <a:lstStyle/>
                  <a:p>
                    <a:r>
                      <a:rPr sz="1100" b="1">
                        <a:solidFill>
                          <a:srgbClr val="1F2A33"/>
                        </a:solidFill>
                        <a:latin typeface="Calibri"/>
                      </a:rPr>
                      <a:t>+1.8 %</a:t>
                    </a:r>
                  </a:p>
                </c:rich>
              </c:tx>
              <c:dLblPos val="outEnd"/>
              <c:showLegendKey val="0"/>
              <c:showVal val="1"/>
              <c:showCatName val="0"/>
              <c:showSerName val="0"/>
              <c:showPercent val="0"/>
              <c:showBubbleSize val="0"/>
            </c:dLbl>
            <c:dLbl>
              <c:idx val="3"/>
              <c:tx>
                <c:rich>
                  <a:bodyPr/>
                  <a:lstStyle/>
                  <a:p>
                    <a:r>
                      <a:rPr sz="1100" b="1">
                        <a:solidFill>
                          <a:srgbClr val="1F2A33"/>
                        </a:solidFill>
                        <a:latin typeface="Calibri"/>
                      </a:rPr>
                      <a:t>-2.0 %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Car time loss</c:v>
                </c:pt>
                <c:pt idx="1">
                  <c:v>Bus delay</c:v>
                </c:pt>
                <c:pt idx="2">
                  <c:v>Pedestrian curb wait</c:v>
                </c:pt>
                <c:pt idx="3">
                  <c:v>Ambulance travel time</c:v>
                </c:pt>
              </c:strCache>
            </c:strRef>
          </c:cat>
          <c:val>
            <c:numRef>
              <c:f>Sheet1!$B$2:$B$5</c:f>
              <c:numCache>
                <c:formatCode>General</c:formatCode>
                <c:ptCount val="4"/>
                <c:pt idx="0">
                  <c:v>-13.3</c:v>
                </c:pt>
                <c:pt idx="1">
                  <c:v>2.5</c:v>
                </c:pt>
                <c:pt idx="2">
                  <c:v>1.8</c:v>
                </c:pt>
                <c:pt idx="3">
                  <c:v>-2.0</c:v>
                </c:pt>
              </c:numCache>
            </c:numRef>
          </c:val>
        </c:ser>
        <c:ser>
          <c:idx val="1"/>
          <c:order val="1"/>
          <c:tx>
            <c:strRef>
              <c:f>Sheet1!$C$1</c:f>
              <c:strCache>
                <c:ptCount val="1"/>
                <c:pt idx="0">
                  <c:v>S2 rules</c:v>
                </c:pt>
              </c:strCache>
            </c:strRef>
          </c:tx>
          <c:spPr>
            <a:solidFill>
              <a:srgbClr val="0B6E69"/>
            </a:solidFill>
          </c:spPr>
          <c:dLbls>
            <c:dLbl>
              <c:idx val="0"/>
              <c:tx>
                <c:rich>
                  <a:bodyPr/>
                  <a:lstStyle/>
                  <a:p>
                    <a:r>
                      <a:rPr sz="1100" b="1">
                        <a:solidFill>
                          <a:srgbClr val="1F2A33"/>
                        </a:solidFill>
                        <a:latin typeface="Calibri"/>
                      </a:rPr>
                      <a:t>-25.4 %</a:t>
                    </a:r>
                  </a:p>
                </c:rich>
              </c:tx>
              <c:dLblPos val="outEnd"/>
              <c:showLegendKey val="0"/>
              <c:showVal val="1"/>
              <c:showCatName val="0"/>
              <c:showSerName val="0"/>
              <c:showPercent val="0"/>
              <c:showBubbleSize val="0"/>
            </c:dLbl>
            <c:dLbl>
              <c:idx val="1"/>
              <c:tx>
                <c:rich>
                  <a:bodyPr/>
                  <a:lstStyle/>
                  <a:p>
                    <a:r>
                      <a:rPr sz="1100" b="1">
                        <a:solidFill>
                          <a:srgbClr val="1F2A33"/>
                        </a:solidFill>
                        <a:latin typeface="Calibri"/>
                      </a:rPr>
                      <a:t>-8.0 %</a:t>
                    </a:r>
                  </a:p>
                </c:rich>
              </c:tx>
              <c:dLblPos val="outEnd"/>
              <c:showLegendKey val="0"/>
              <c:showVal val="1"/>
              <c:showCatName val="0"/>
              <c:showSerName val="0"/>
              <c:showPercent val="0"/>
              <c:showBubbleSize val="0"/>
            </c:dLbl>
            <c:dLbl>
              <c:idx val="2"/>
              <c:tx>
                <c:rich>
                  <a:bodyPr/>
                  <a:lstStyle/>
                  <a:p>
                    <a:r>
                      <a:rPr sz="1100" b="1">
                        <a:solidFill>
                          <a:srgbClr val="1F2A33"/>
                        </a:solidFill>
                        <a:latin typeface="Calibri"/>
                      </a:rPr>
                      <a:t>+2.6 %</a:t>
                    </a:r>
                  </a:p>
                </c:rich>
              </c:tx>
              <c:dLblPos val="outEnd"/>
              <c:showLegendKey val="0"/>
              <c:showVal val="1"/>
              <c:showCatName val="0"/>
              <c:showSerName val="0"/>
              <c:showPercent val="0"/>
              <c:showBubbleSize val="0"/>
            </c:dLbl>
            <c:dLbl>
              <c:idx val="3"/>
              <c:tx>
                <c:rich>
                  <a:bodyPr/>
                  <a:lstStyle/>
                  <a:p>
                    <a:r>
                      <a:rPr sz="1100" b="1">
                        <a:solidFill>
                          <a:srgbClr val="1F2A33"/>
                        </a:solidFill>
                        <a:latin typeface="Calibri"/>
                      </a:rPr>
                      <a:t>-27.4 %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Car time loss</c:v>
                </c:pt>
                <c:pt idx="1">
                  <c:v>Bus delay</c:v>
                </c:pt>
                <c:pt idx="2">
                  <c:v>Pedestrian curb wait</c:v>
                </c:pt>
                <c:pt idx="3">
                  <c:v>Ambulance travel time</c:v>
                </c:pt>
              </c:strCache>
            </c:strRef>
          </c:cat>
          <c:val>
            <c:numRef>
              <c:f>Sheet1!$C$2:$C$5</c:f>
              <c:numCache>
                <c:formatCode>General</c:formatCode>
                <c:ptCount val="4"/>
                <c:pt idx="0">
                  <c:v>-25.4</c:v>
                </c:pt>
                <c:pt idx="1">
                  <c:v>-8.0</c:v>
                </c:pt>
                <c:pt idx="2">
                  <c:v>2.6</c:v>
                </c:pt>
                <c:pt idx="3">
                  <c:v>-27.4</c:v>
                </c:pt>
              </c:numCache>
            </c:numRef>
          </c:val>
        </c:ser>
        <c:ser>
          <c:idx val="2"/>
          <c:order val="2"/>
          <c:tx>
            <c:strRef>
              <c:f>Sheet1!$D$1</c:f>
              <c:strCache>
                <c:ptCount val="1"/>
                <c:pt idx="0">
                  <c:v>S3 RL</c:v>
                </c:pt>
              </c:strCache>
            </c:strRef>
          </c:tx>
          <c:spPr>
            <a:solidFill>
              <a:srgbClr val="5FB8B0"/>
            </a:solidFill>
          </c:spPr>
          <c:dLbls>
            <c:dLbl>
              <c:idx val="0"/>
              <c:tx>
                <c:rich>
                  <a:bodyPr/>
                  <a:lstStyle/>
                  <a:p>
                    <a:r>
                      <a:rPr sz="1100" b="1">
                        <a:solidFill>
                          <a:srgbClr val="1F2A33"/>
                        </a:solidFill>
                        <a:latin typeface="Calibri"/>
                      </a:rPr>
                      <a:t>-25.9 %</a:t>
                    </a:r>
                  </a:p>
                </c:rich>
              </c:tx>
              <c:dLblPos val="outEnd"/>
              <c:showLegendKey val="0"/>
              <c:showVal val="1"/>
              <c:showCatName val="0"/>
              <c:showSerName val="0"/>
              <c:showPercent val="0"/>
              <c:showBubbleSize val="0"/>
            </c:dLbl>
            <c:dLbl>
              <c:idx val="1"/>
              <c:tx>
                <c:rich>
                  <a:bodyPr/>
                  <a:lstStyle/>
                  <a:p>
                    <a:r>
                      <a:rPr sz="1100" b="1">
                        <a:solidFill>
                          <a:srgbClr val="1F2A33"/>
                        </a:solidFill>
                        <a:latin typeface="Calibri"/>
                      </a:rPr>
                      <a:t>-22.0 %</a:t>
                    </a:r>
                  </a:p>
                </c:rich>
              </c:tx>
              <c:dLblPos val="outEnd"/>
              <c:showLegendKey val="0"/>
              <c:showVal val="1"/>
              <c:showCatName val="0"/>
              <c:showSerName val="0"/>
              <c:showPercent val="0"/>
              <c:showBubbleSize val="0"/>
            </c:dLbl>
            <c:dLbl>
              <c:idx val="2"/>
              <c:tx>
                <c:rich>
                  <a:bodyPr/>
                  <a:lstStyle/>
                  <a:p>
                    <a:r>
                      <a:rPr sz="1100" b="1">
                        <a:solidFill>
                          <a:srgbClr val="1F2A33"/>
                        </a:solidFill>
                        <a:latin typeface="Calibri"/>
                      </a:rPr>
                      <a:t>+7.0 %</a:t>
                    </a:r>
                  </a:p>
                </c:rich>
              </c:tx>
              <c:dLblPos val="outEnd"/>
              <c:showLegendKey val="0"/>
              <c:showVal val="1"/>
              <c:showCatName val="0"/>
              <c:showSerName val="0"/>
              <c:showPercent val="0"/>
              <c:showBubbleSize val="0"/>
            </c:dLbl>
            <c:dLbl>
              <c:idx val="3"/>
              <c:tx>
                <c:rich>
                  <a:bodyPr/>
                  <a:lstStyle/>
                  <a:p>
                    <a:r>
                      <a:rPr sz="1100" b="1">
                        <a:solidFill>
                          <a:srgbClr val="1F2A33"/>
                        </a:solidFill>
                        <a:latin typeface="Calibri"/>
                      </a:rPr>
                      <a:t>-33.4 %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Car time loss</c:v>
                </c:pt>
                <c:pt idx="1">
                  <c:v>Bus delay</c:v>
                </c:pt>
                <c:pt idx="2">
                  <c:v>Pedestrian curb wait</c:v>
                </c:pt>
                <c:pt idx="3">
                  <c:v>Ambulance travel time</c:v>
                </c:pt>
              </c:strCache>
            </c:strRef>
          </c:cat>
          <c:val>
            <c:numRef>
              <c:f>Sheet1!$D$2:$D$5</c:f>
              <c:numCache>
                <c:formatCode>General</c:formatCode>
                <c:ptCount val="4"/>
                <c:pt idx="0">
                  <c:v>-25.9</c:v>
                </c:pt>
                <c:pt idx="1">
                  <c:v>-22.0</c:v>
                </c:pt>
                <c:pt idx="2">
                  <c:v>7.0</c:v>
                </c:pt>
                <c:pt idx="3">
                  <c:v>-33.4</c:v>
                </c:pt>
              </c:numCache>
            </c:numRef>
          </c:val>
        </c:ser>
        <c:dLbls>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low"/>
        <c:spPr>
          <a:ln>
            <a:solidFill>
              <a:srgbClr val="C9D2D8"/>
            </a:solidFill>
          </a:ln>
        </c:spPr>
        <c:txPr>
          <a:bodyPr/>
          <a:lstStyle/>
          <a:p>
            <a:pPr>
              <a:defRPr sz="1300"/>
            </a:pPr>
          </a:p>
        </c:txPr>
        <c:crossAx val="-2113994440"/>
        <c:crosses val="autoZero"/>
        <c:auto val="1"/>
        <c:lblAlgn val="ctr"/>
        <c:lblOffset val="100"/>
        <c:noMultiLvlLbl val="0"/>
      </c:catAx>
      <c:valAx>
        <c:axId val="-2113994440"/>
        <c:scaling/>
        <c:delete val="0"/>
        <c:axPos val="l"/>
        <c:majorGridlines>
          <c:spPr>
            <a:ln>
              <a:solidFill>
                <a:srgbClr val="E1E6E9"/>
              </a:solidFill>
            </a:ln>
          </c:spPr>
        </c:majorGridlines>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5B677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Travel time (s)</c:v>
                </c:pt>
              </c:strCache>
            </c:strRef>
          </c:tx>
          <c:dPt>
            <c:idx val="0"/>
            <c:spPr>
              <a:solidFill>
                <a:srgbClr val="A9B6BE"/>
              </a:solidFill>
            </c:spPr>
          </c:dPt>
          <c:dPt>
            <c:idx val="1"/>
            <c:spPr>
              <a:solidFill>
                <a:srgbClr val="0B6E69"/>
              </a:solidFill>
            </c:spPr>
          </c:dPt>
          <c:dPt>
            <c:idx val="2"/>
            <c:spPr>
              <a:solidFill>
                <a:srgbClr val="5FB8B0"/>
              </a:solidFill>
            </c:spPr>
          </c:dPt>
          <c:dLbls>
            <c:dLbl>
              <c:idx val="0"/>
              <c:tx>
                <c:rich>
                  <a:bodyPr/>
                  <a:lstStyle/>
                  <a:p>
                    <a:r>
                      <a:rPr sz="1300" b="1">
                        <a:solidFill>
                          <a:srgbClr val="1F2A33"/>
                        </a:solidFill>
                        <a:latin typeface="Calibri"/>
                      </a:rPr>
                      <a:t>152.2 s</a:t>
                    </a:r>
                  </a:p>
                </c:rich>
              </c:tx>
              <c:dLblPos val="outEnd"/>
              <c:showLegendKey val="0"/>
              <c:showVal val="1"/>
              <c:showCatName val="0"/>
              <c:showSerName val="0"/>
              <c:showPercent val="0"/>
              <c:showBubbleSize val="0"/>
            </c:dLbl>
            <c:dLbl>
              <c:idx val="1"/>
              <c:tx>
                <c:rich>
                  <a:bodyPr/>
                  <a:lstStyle/>
                  <a:p>
                    <a:r>
                      <a:rPr sz="1300" b="1">
                        <a:solidFill>
                          <a:srgbClr val="1F2A33"/>
                        </a:solidFill>
                        <a:latin typeface="Calibri"/>
                      </a:rPr>
                      <a:t>110.5 s</a:t>
                    </a:r>
                  </a:p>
                </c:rich>
              </c:tx>
              <c:dLblPos val="outEnd"/>
              <c:showLegendKey val="0"/>
              <c:showVal val="1"/>
              <c:showCatName val="0"/>
              <c:showSerName val="0"/>
              <c:showPercent val="0"/>
              <c:showBubbleSize val="0"/>
            </c:dLbl>
            <c:dLbl>
              <c:idx val="2"/>
              <c:tx>
                <c:rich>
                  <a:bodyPr/>
                  <a:lstStyle/>
                  <a:p>
                    <a:r>
                      <a:rPr sz="1300" b="1">
                        <a:solidFill>
                          <a:srgbClr val="1F2A33"/>
                        </a:solidFill>
                        <a:latin typeface="Calibri"/>
                      </a:rPr>
                      <a:t>101.3 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S0 fixed</c:v>
                </c:pt>
                <c:pt idx="1">
                  <c:v>S2 rules</c:v>
                </c:pt>
                <c:pt idx="2">
                  <c:v>S3 RL</c:v>
                </c:pt>
              </c:strCache>
            </c:strRef>
          </c:cat>
          <c:val>
            <c:numRef>
              <c:f>Sheet1!$B$2:$B$4</c:f>
              <c:numCache>
                <c:formatCode>General</c:formatCode>
                <c:ptCount val="3"/>
                <c:pt idx="0">
                  <c:v>152.2</c:v>
                </c:pt>
                <c:pt idx="1">
                  <c:v>110.5</c:v>
                </c:pt>
                <c:pt idx="2">
                  <c:v>101.3</c:v>
                </c:pt>
              </c:numCache>
            </c:numRef>
          </c:val>
        </c:ser>
        <c:dLbls>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low"/>
        <c:spPr>
          <a:ln>
            <a:solidFill>
              <a:srgbClr val="C9D2D8"/>
            </a:solidFill>
          </a:ln>
        </c:spPr>
        <c:txPr>
          <a:bodyPr/>
          <a:lstStyle/>
          <a:p>
            <a:pPr>
              <a:defRPr sz="1300"/>
            </a:pPr>
          </a:p>
        </c:txPr>
        <c:crossAx val="-2113994440"/>
        <c:crosses val="autoZero"/>
        <c:auto val="1"/>
        <c:lblAlgn val="ctr"/>
        <c:lblOffset val="100"/>
        <c:noMultiLvlLbl val="0"/>
      </c:catAx>
      <c:valAx>
        <c:axId val="-2113994440"/>
        <c:scaling/>
        <c:delete val="0"/>
        <c:axPos val="l"/>
        <c:majorGridlines>
          <c:spPr>
            <a:ln>
              <a:solidFill>
                <a:srgbClr val="E1E6E9"/>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5B677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four people of spec 1.1 stuck in the same morning peak. One real Paris junction, modelled and calibrated, four signal strategies compared fairly, and an app that tells each user what matters to them. Say early that every number is simulated and that the signal program is assumed until the field visit.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personas of the spec. The fifth profile, the operator, compares the strategies. The equity question is the hard part: a controller can lower the average delay while one user group pays for it, so every result is broken down per user and checked for hidden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Chosen with the spec's weighted grid: the only candidate with usable sensors on its approaches, a hospital, three bus lines and busy crossings. The drawing is a schematic, not to scale. OSM has no crossing on the N arm.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simulation, control, prediction, API, app. Every layer has a simpler fallback: rules if RL fails, the reference table if the ETA model is missing, degraded answers if a run is missing. Nothing is a live city feed.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A-02 passes, but it mostly shows that the network carries the demand in the right time slots. The independent checks are the signal timing and the queues, which wait for the field visit. If the measured program differs, Parts 3 to 8 are rerun and the report gets a version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 is the rules controller of Part 4; S3 is the RL policy selected in Part 7. The guard and the preemption keep priority over every controller, RL included. The shield is what makes S2's longer greens safe for pedestrians.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demand and seeds for every controller. The person delay weights bus riders by an assumed occupancy, so it is the headline that reflects every user. S2 is the main solution; S3 is shown as computed by the pre-registered Part 8 run, whatever its direction.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Equity is checked on every KPI against S0, per car arm, bus flow and crossing. The pedestrian cost is the recurring trade-off: longer greens for vehicles mean longer curb waits, kept under the bound by the shield.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 is the pre-registered one-sided test on the main family. The probe family runs seven ambulances per run and compares S2 with and without preemption, which isolates the effect. The ambulance obeys red lights in the model, so preemption is the only way through.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criteria were pre-registered (D79) and looked at once. C2 fails on the pedestrian curb wait, so the week-7 rule makes the rules controller the main solution and RL a study. A-06 is still run on seeds 1-10 as registered and presented whatever its direction; it does not reopen the choice.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quantiles plus a conformal step calibrated on separate worlds. The student view always shows the interval and a departure advice. The model learns the simulator, so it is retrained after the field visit.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app is Motez's design, fed only by the API; the operator view is Streamlit. No value is invented on the client: a missing answer shows a degraded or unavailable state with the reason.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lamp is generated from its evidence file. PENDING means the evidence does not exist yet. Still pending: A-10 (3 to 5 real users): no session yet; 3 to 5 real sessions needed (spec 12.2). The presenter's own rehearsal of the demo is not recorded yet. A-06 passes when the comparison is valid and shown, whatever its direction; A-10 needs three to five real users.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about the limits: everything is simulated, the program is assumed, and the RL policy is blind to pedestrians. The field visit can change the numbers; the code and the pre-registered procedure stay.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docs/demo/runbook.md. Say that the data are simulated, that the signal program is assumed, that RL is a study after the week-7 FALLBACK, and what A-06 showed. Switch to the fallback screenshots at the first sign of trouble.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22B"/>
        </a:solidFill>
        <a:effectLst/>
      </p:bgPr>
    </p:bg>
    <p:spTree>
      <p:nvGrpSpPr>
        <p:cNvPr id="1" name=""/>
        <p:cNvGrpSpPr/>
        <p:nvPr/>
      </p:nvGrpSpPr>
      <p:grpSpPr/>
      <p:sp>
        <p:nvSpPr>
          <p:cNvPr id="2" name="signal-box"/>
          <p:cNvSpPr/>
          <p:nvPr/>
        </p:nvSpPr>
        <p:spPr>
          <a:xfrm>
            <a:off x="544068" y="1367028"/>
            <a:ext cx="576072" cy="1632204"/>
          </a:xfrm>
          <a:prstGeom prst="roundRect">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ignal-0"/>
          <p:cNvSpPr/>
          <p:nvPr/>
        </p:nvSpPr>
        <p:spPr>
          <a:xfrm>
            <a:off x="640080" y="1463040"/>
            <a:ext cx="384048" cy="384048"/>
          </a:xfrm>
          <a:prstGeom prst="ellipse">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l-1"/>
          <p:cNvSpPr/>
          <p:nvPr/>
        </p:nvSpPr>
        <p:spPr>
          <a:xfrm>
            <a:off x="640080" y="1962302"/>
            <a:ext cx="384048" cy="384048"/>
          </a:xfrm>
          <a:prstGeom prst="ellipse">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ignal-2"/>
          <p:cNvSpPr/>
          <p:nvPr/>
        </p:nvSpPr>
        <p:spPr>
          <a:xfrm>
            <a:off x="640080" y="2461564"/>
            <a:ext cx="384048" cy="384048"/>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ck-title"/>
          <p:cNvSpPr txBox="1"/>
          <p:nvPr/>
        </p:nvSpPr>
        <p:spPr>
          <a:xfrm>
            <a:off x="1554480" y="1280160"/>
            <a:ext cx="9875520" cy="1737360"/>
          </a:xfrm>
          <a:prstGeom prst="rect">
            <a:avLst/>
          </a:prstGeom>
          <a:noFill/>
        </p:spPr>
        <p:txBody>
          <a:bodyPr wrap="square" lIns="0" rIns="0" tIns="0" bIns="0" anchor="t">
            <a:spAutoFit/>
          </a:bodyPr>
          <a:lstStyle/>
          <a:p>
            <a:pPr algn="l"/>
            <a:r>
              <a:rPr sz="5400" b="1" i="0">
                <a:solidFill>
                  <a:srgbClr val="FFFFFF"/>
                </a:solidFill>
                <a:latin typeface="Calibri"/>
              </a:rPr>
              <a:t>Urban Traffic Twin</a:t>
            </a:r>
          </a:p>
          <a:p>
            <a:pPr algn="l"/>
            <a:r>
              <a:rPr sz="2200" b="0" i="0">
                <a:solidFill>
                  <a:srgbClr val="5FB8B0"/>
                </a:solidFill>
                <a:latin typeface="Calibri"/>
              </a:rPr>
              <a:t>A calibrated digital twin of one Paris junction: signal control for every user</a:t>
            </a:r>
          </a:p>
        </p:txBody>
      </p:sp>
      <p:sp>
        <p:nvSpPr>
          <p:cNvPr id="7" name="deck-sub"/>
          <p:cNvSpPr txBox="1"/>
          <p:nvPr/>
        </p:nvSpPr>
        <p:spPr>
          <a:xfrm>
            <a:off x="1554480" y="3429000"/>
            <a:ext cx="9875520" cy="1280160"/>
          </a:xfrm>
          <a:prstGeom prst="rect">
            <a:avLst/>
          </a:prstGeom>
          <a:noFill/>
        </p:spPr>
        <p:txBody>
          <a:bodyPr wrap="square" lIns="0" rIns="0" tIns="0" bIns="0" anchor="t">
            <a:spAutoFit/>
          </a:bodyPr>
          <a:lstStyle/>
          <a:p>
            <a:pPr algn="l">
              <a:spcAft>
                <a:spcPts val="600"/>
              </a:spcAft>
            </a:pPr>
            <a:r>
              <a:rPr sz="1800" b="0" i="0">
                <a:solidFill>
                  <a:srgbClr val="FFFFFF"/>
                </a:solidFill>
                <a:latin typeface="Calibri"/>
              </a:rPr>
              <a:t>Bd de l'Hôpital × Bd Saint-Marcel, next to the Pitié-Salpêtrière hospital, Paris 13e</a:t>
            </a:r>
          </a:p>
          <a:p>
            <a:pPr algn="l"/>
            <a:r>
              <a:rPr sz="1600" b="0" i="0">
                <a:solidFill>
                  <a:srgbClr val="5FB8B0"/>
                </a:solidFill>
                <a:latin typeface="Calibri"/>
              </a:rPr>
              <a:t>Cars · buses · an ambulance · pedestrians: fixed, actuated, rules and RL control compared on the same seeds</a:t>
            </a:r>
          </a:p>
        </p:txBody>
      </p:sp>
      <p:sp>
        <p:nvSpPr>
          <p:cNvPr id="8" name="authors"/>
          <p:cNvSpPr txBox="1"/>
          <p:nvPr/>
        </p:nvSpPr>
        <p:spPr>
          <a:xfrm>
            <a:off x="1554480" y="5257800"/>
            <a:ext cx="9875520" cy="822960"/>
          </a:xfrm>
          <a:prstGeom prst="rect">
            <a:avLst/>
          </a:prstGeom>
          <a:noFill/>
        </p:spPr>
        <p:txBody>
          <a:bodyPr wrap="square" lIns="0" rIns="0" tIns="0" bIns="0" anchor="t">
            <a:spAutoFit/>
          </a:bodyPr>
          <a:lstStyle/>
          <a:p>
            <a:pPr algn="l"/>
            <a:r>
              <a:rPr sz="1600" b="0" i="0">
                <a:solidFill>
                  <a:srgbClr val="FFFFFF"/>
                </a:solidFill>
                <a:latin typeface="Calibri"/>
              </a:rPr>
              <a:t>Motez Jerbi, mrvolcon1</a:t>
            </a:r>
          </a:p>
          <a:p>
            <a:pPr algn="l"/>
            <a:r>
              <a:rPr sz="1400" b="0" i="0">
                <a:solidFill>
                  <a:srgbClr val="5FB8B0"/>
                </a:solidFill>
                <a:latin typeface="Calibri"/>
              </a:rPr>
              <a:t>v1 — provisional (before the field visit) · 2026-10-23</a:t>
            </a:r>
          </a:p>
        </p:txBody>
      </p:sp>
      <p:sp>
        <p:nvSpPr>
          <p:cNvPr id="9" name="footer"/>
          <p:cNvSpPr txBox="1"/>
          <p:nvPr/>
        </p:nvSpPr>
        <p:spPr>
          <a:xfrm>
            <a:off x="1554480" y="6309360"/>
            <a:ext cx="10058400" cy="274320"/>
          </a:xfrm>
          <a:prstGeom prst="rect">
            <a:avLst/>
          </a:prstGeom>
          <a:noFill/>
        </p:spPr>
        <p:txBody>
          <a:bodyPr wrap="square" lIns="0" rIns="0" tIns="0" bIns="0" anchor="t">
            <a:spAutoFit/>
          </a:bodyPr>
          <a:lstStyle/>
          <a:p>
            <a:pPr algn="l"/>
            <a:r>
              <a:rPr sz="1100" b="0" i="0">
                <a:solidFill>
                  <a:srgbClr val="5FB8B0"/>
                </a:solidFill>
                <a:latin typeface="Calibri"/>
              </a:rPr>
              <a:t>Simulated data · ASSUMED signal program · field visit 3-5 Nov 2026 not yet done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Four users, one junction, one question</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Can adaptive signal control cut every user's delay without sacrificing one of them?</a:t>
            </a:r>
          </a:p>
        </p:txBody>
      </p:sp>
      <p:sp>
        <p:nvSpPr>
          <p:cNvPr id="4" name="user-0"/>
          <p:cNvSpPr/>
          <p:nvPr/>
        </p:nvSpPr>
        <p:spPr>
          <a:xfrm>
            <a:off x="548640" y="1828800"/>
            <a:ext cx="2567863" cy="30175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ser-lamp-0"/>
          <p:cNvSpPr/>
          <p:nvPr/>
        </p:nvSpPr>
        <p:spPr>
          <a:xfrm>
            <a:off x="822960" y="2103120"/>
            <a:ext cx="274320" cy="274320"/>
          </a:xfrm>
          <a:prstGeom prst="ellipse">
            <a:avLst/>
          </a:prstGeom>
          <a:solidFill>
            <a:srgbClr val="C63D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user-name-0"/>
          <p:cNvSpPr txBox="1"/>
          <p:nvPr/>
        </p:nvSpPr>
        <p:spPr>
          <a:xfrm>
            <a:off x="822960" y="2560320"/>
            <a:ext cx="2019223" cy="457200"/>
          </a:xfrm>
          <a:prstGeom prst="rect">
            <a:avLst/>
          </a:prstGeom>
          <a:noFill/>
        </p:spPr>
        <p:txBody>
          <a:bodyPr wrap="square" lIns="0" rIns="0" tIns="0" bIns="0" anchor="t">
            <a:spAutoFit/>
          </a:bodyPr>
          <a:lstStyle/>
          <a:p>
            <a:pPr algn="l"/>
            <a:r>
              <a:rPr sz="2200" b="1" i="0">
                <a:solidFill>
                  <a:srgbClr val="1F2A33"/>
                </a:solidFill>
                <a:latin typeface="Calibri"/>
              </a:rPr>
              <a:t>Student</a:t>
            </a:r>
          </a:p>
        </p:txBody>
      </p:sp>
      <p:sp>
        <p:nvSpPr>
          <p:cNvPr id="7" name="user-need-0"/>
          <p:cNvSpPr txBox="1"/>
          <p:nvPr/>
        </p:nvSpPr>
        <p:spPr>
          <a:xfrm>
            <a:off x="822960" y="3108960"/>
            <a:ext cx="2019223" cy="1645920"/>
          </a:xfrm>
          <a:prstGeom prst="rect">
            <a:avLst/>
          </a:prstGeom>
          <a:noFill/>
        </p:spPr>
        <p:txBody>
          <a:bodyPr wrap="square" lIns="0" rIns="0" tIns="0" bIns="0" anchor="t">
            <a:spAutoFit/>
          </a:bodyPr>
          <a:lstStyle/>
          <a:p>
            <a:pPr algn="l"/>
            <a:r>
              <a:rPr sz="1500" b="0" i="0">
                <a:solidFill>
                  <a:srgbClr val="1F2A33"/>
                </a:solidFill>
                <a:latin typeface="Calibri"/>
              </a:rPr>
              <a:t>Will I make the exam? A travel time with an honest interval and a departure advice.</a:t>
            </a:r>
          </a:p>
        </p:txBody>
      </p:sp>
      <p:sp>
        <p:nvSpPr>
          <p:cNvPr id="8" name="user-1"/>
          <p:cNvSpPr/>
          <p:nvPr/>
        </p:nvSpPr>
        <p:spPr>
          <a:xfrm>
            <a:off x="3390823" y="1828800"/>
            <a:ext cx="2567863" cy="30175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user-lamp-1"/>
          <p:cNvSpPr/>
          <p:nvPr/>
        </p:nvSpPr>
        <p:spPr>
          <a:xfrm>
            <a:off x="3665143" y="2103120"/>
            <a:ext cx="274320" cy="27432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user-name-1"/>
          <p:cNvSpPr txBox="1"/>
          <p:nvPr/>
        </p:nvSpPr>
        <p:spPr>
          <a:xfrm>
            <a:off x="3665143" y="2560320"/>
            <a:ext cx="2019223" cy="457200"/>
          </a:xfrm>
          <a:prstGeom prst="rect">
            <a:avLst/>
          </a:prstGeom>
          <a:noFill/>
        </p:spPr>
        <p:txBody>
          <a:bodyPr wrap="square" lIns="0" rIns="0" tIns="0" bIns="0" anchor="t">
            <a:spAutoFit/>
          </a:bodyPr>
          <a:lstStyle/>
          <a:p>
            <a:pPr algn="l"/>
            <a:r>
              <a:rPr sz="2200" b="1" i="0">
                <a:solidFill>
                  <a:srgbClr val="1F2A33"/>
                </a:solidFill>
                <a:latin typeface="Calibri"/>
              </a:rPr>
              <a:t>Ambulance</a:t>
            </a:r>
          </a:p>
        </p:txBody>
      </p:sp>
      <p:sp>
        <p:nvSpPr>
          <p:cNvPr id="11" name="user-need-1"/>
          <p:cNvSpPr txBox="1"/>
          <p:nvPr/>
        </p:nvSpPr>
        <p:spPr>
          <a:xfrm>
            <a:off x="3665143" y="3108960"/>
            <a:ext cx="2019223" cy="1645920"/>
          </a:xfrm>
          <a:prstGeom prst="rect">
            <a:avLst/>
          </a:prstGeom>
          <a:noFill/>
        </p:spPr>
        <p:txBody>
          <a:bodyPr wrap="square" lIns="0" rIns="0" tIns="0" bIns="0" anchor="t">
            <a:spAutoFit/>
          </a:bodyPr>
          <a:lstStyle/>
          <a:p>
            <a:pPr algn="l"/>
            <a:r>
              <a:rPr sz="1500" b="0" i="0">
                <a:solidFill>
                  <a:srgbClr val="1F2A33"/>
                </a:solidFill>
                <a:latin typeface="Calibri"/>
              </a:rPr>
              <a:t>Clear the junction now: preemption of the signals on the way to the hospital gate.</a:t>
            </a:r>
          </a:p>
        </p:txBody>
      </p:sp>
      <p:sp>
        <p:nvSpPr>
          <p:cNvPr id="12" name="user-2"/>
          <p:cNvSpPr/>
          <p:nvPr/>
        </p:nvSpPr>
        <p:spPr>
          <a:xfrm>
            <a:off x="6233006" y="1828800"/>
            <a:ext cx="2567863" cy="30175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ser-lamp-2"/>
          <p:cNvSpPr/>
          <p:nvPr/>
        </p:nvSpPr>
        <p:spPr>
          <a:xfrm>
            <a:off x="6507326" y="2103120"/>
            <a:ext cx="274320" cy="274320"/>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user-name-2"/>
          <p:cNvSpPr txBox="1"/>
          <p:nvPr/>
        </p:nvSpPr>
        <p:spPr>
          <a:xfrm>
            <a:off x="6507326" y="2560320"/>
            <a:ext cx="2019223" cy="457200"/>
          </a:xfrm>
          <a:prstGeom prst="rect">
            <a:avLst/>
          </a:prstGeom>
          <a:noFill/>
        </p:spPr>
        <p:txBody>
          <a:bodyPr wrap="square" lIns="0" rIns="0" tIns="0" bIns="0" anchor="t">
            <a:spAutoFit/>
          </a:bodyPr>
          <a:lstStyle/>
          <a:p>
            <a:pPr algn="l"/>
            <a:r>
              <a:rPr sz="2200" b="1" i="0">
                <a:solidFill>
                  <a:srgbClr val="1F2A33"/>
                </a:solidFill>
                <a:latin typeface="Calibri"/>
              </a:rPr>
              <a:t>Bus driver</a:t>
            </a:r>
          </a:p>
        </p:txBody>
      </p:sp>
      <p:sp>
        <p:nvSpPr>
          <p:cNvPr id="15" name="user-need-2"/>
          <p:cNvSpPr txBox="1"/>
          <p:nvPr/>
        </p:nvSpPr>
        <p:spPr>
          <a:xfrm>
            <a:off x="6507326" y="3108960"/>
            <a:ext cx="2019223" cy="1645920"/>
          </a:xfrm>
          <a:prstGeom prst="rect">
            <a:avLst/>
          </a:prstGeom>
          <a:noFill/>
        </p:spPr>
        <p:txBody>
          <a:bodyPr wrap="square" lIns="0" rIns="0" tIns="0" bIns="0" anchor="t">
            <a:spAutoFit/>
          </a:bodyPr>
          <a:lstStyle/>
          <a:p>
            <a:pPr algn="l"/>
            <a:r>
              <a:rPr sz="1500" b="0" i="0">
                <a:solidFill>
                  <a:srgbClr val="1F2A33"/>
                </a:solidFill>
                <a:latin typeface="Calibri"/>
              </a:rPr>
              <a:t>Am I on schedule? Delay against the timetable, headway, priority.</a:t>
            </a:r>
          </a:p>
        </p:txBody>
      </p:sp>
      <p:sp>
        <p:nvSpPr>
          <p:cNvPr id="16" name="user-3"/>
          <p:cNvSpPr/>
          <p:nvPr/>
        </p:nvSpPr>
        <p:spPr>
          <a:xfrm>
            <a:off x="9075189" y="1828800"/>
            <a:ext cx="2567863" cy="30175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user-lamp-3"/>
          <p:cNvSpPr/>
          <p:nvPr/>
        </p:nvSpPr>
        <p:spPr>
          <a:xfrm>
            <a:off x="9349509" y="2103120"/>
            <a:ext cx="274320" cy="274320"/>
          </a:xfrm>
          <a:prstGeom prst="ellipse">
            <a:avLst/>
          </a:prstGeom>
          <a:solidFill>
            <a:srgbClr val="0B6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user-name-3"/>
          <p:cNvSpPr txBox="1"/>
          <p:nvPr/>
        </p:nvSpPr>
        <p:spPr>
          <a:xfrm>
            <a:off x="9349509" y="2560320"/>
            <a:ext cx="2019223" cy="457200"/>
          </a:xfrm>
          <a:prstGeom prst="rect">
            <a:avLst/>
          </a:prstGeom>
          <a:noFill/>
        </p:spPr>
        <p:txBody>
          <a:bodyPr wrap="square" lIns="0" rIns="0" tIns="0" bIns="0" anchor="t">
            <a:spAutoFit/>
          </a:bodyPr>
          <a:lstStyle/>
          <a:p>
            <a:pPr algn="l"/>
            <a:r>
              <a:rPr sz="2200" b="1" i="0">
                <a:solidFill>
                  <a:srgbClr val="1F2A33"/>
                </a:solidFill>
                <a:latin typeface="Calibri"/>
              </a:rPr>
              <a:t>Pedestrian</a:t>
            </a:r>
          </a:p>
        </p:txBody>
      </p:sp>
      <p:sp>
        <p:nvSpPr>
          <p:cNvPr id="19" name="user-need-3"/>
          <p:cNvSpPr txBox="1"/>
          <p:nvPr/>
        </p:nvSpPr>
        <p:spPr>
          <a:xfrm>
            <a:off x="9349509" y="3108960"/>
            <a:ext cx="2019223" cy="1645920"/>
          </a:xfrm>
          <a:prstGeom prst="rect">
            <a:avLst/>
          </a:prstGeom>
          <a:noFill/>
        </p:spPr>
        <p:txBody>
          <a:bodyPr wrap="square" lIns="0" rIns="0" tIns="0" bIns="0" anchor="t">
            <a:spAutoFit/>
          </a:bodyPr>
          <a:lstStyle/>
          <a:p>
            <a:pPr algn="l"/>
            <a:r>
              <a:rPr sz="1500" b="0" i="0">
                <a:solidFill>
                  <a:srgbClr val="1F2A33"/>
                </a:solidFill>
                <a:latin typeface="Calibri"/>
              </a:rPr>
              <a:t>Can I cross? A verdict for my walking speed, and a wait that stays bounded.</a:t>
            </a:r>
          </a:p>
        </p:txBody>
      </p:sp>
      <p:sp>
        <p:nvSpPr>
          <p:cNvPr id="20" name="method"/>
          <p:cNvSpPr txBox="1"/>
          <p:nvPr/>
        </p:nvSpPr>
        <p:spPr>
          <a:xfrm>
            <a:off x="548640" y="5120640"/>
            <a:ext cx="11094415" cy="822960"/>
          </a:xfrm>
          <a:prstGeom prst="rect">
            <a:avLst/>
          </a:prstGeom>
          <a:noFill/>
        </p:spPr>
        <p:txBody>
          <a:bodyPr wrap="square" lIns="0" rIns="0" tIns="0" bIns="0" anchor="t">
            <a:spAutoFit/>
          </a:bodyPr>
          <a:lstStyle/>
          <a:p>
            <a:pPr algn="l"/>
            <a:r>
              <a:rPr sz="1700" b="0" i="0">
                <a:solidFill>
                  <a:srgbClr val="0B6E69"/>
                </a:solidFill>
                <a:latin typeface="Calibri"/>
              </a:rPr>
              <a:t>The answer is measured per user, on the same demand and the same seeds for every controller, with pre-registered statistics (spec 13.3).</a:t>
            </a:r>
          </a:p>
        </p:txBody>
      </p:sp>
      <p:sp>
        <p:nvSpPr>
          <p:cNvPr id="21"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22"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The site: Bd de l'Hôpital × Bd Saint-Marcel</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Paris 13e, next to the Pitié-Salpêtrière hospital, sensor node 302</a:t>
            </a:r>
          </a:p>
        </p:txBody>
      </p:sp>
      <p:sp>
        <p:nvSpPr>
          <p:cNvPr id="4" name="road-ns"/>
          <p:cNvSpPr/>
          <p:nvPr/>
        </p:nvSpPr>
        <p:spPr>
          <a:xfrm>
            <a:off x="2834640" y="1691640"/>
            <a:ext cx="914400" cy="4480560"/>
          </a:xfrm>
          <a:prstGeom prst="rect">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ad-w"/>
          <p:cNvSpPr/>
          <p:nvPr/>
        </p:nvSpPr>
        <p:spPr>
          <a:xfrm>
            <a:off x="548640" y="3474720"/>
            <a:ext cx="2743200" cy="914400"/>
          </a:xfrm>
          <a:prstGeom prst="rect">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s-road"/>
          <p:cNvSpPr/>
          <p:nvPr/>
        </p:nvSpPr>
        <p:spPr>
          <a:xfrm>
            <a:off x="3749040" y="3767328"/>
            <a:ext cx="2011680" cy="329184"/>
          </a:xfrm>
          <a:prstGeom prst="rect">
            <a:avLst/>
          </a:prstGeom>
          <a:solidFill>
            <a:srgbClr val="0B6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junction-box"/>
          <p:cNvSpPr/>
          <p:nvPr/>
        </p:nvSpPr>
        <p:spPr>
          <a:xfrm>
            <a:off x="3931920" y="2331720"/>
            <a:ext cx="274320" cy="777240"/>
          </a:xfrm>
          <a:prstGeom prst="roundRect">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junction-0"/>
          <p:cNvSpPr/>
          <p:nvPr/>
        </p:nvSpPr>
        <p:spPr>
          <a:xfrm>
            <a:off x="3977640" y="2377440"/>
            <a:ext cx="182880" cy="182880"/>
          </a:xfrm>
          <a:prstGeom prst="ellipse">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junction-1"/>
          <p:cNvSpPr/>
          <p:nvPr/>
        </p:nvSpPr>
        <p:spPr>
          <a:xfrm>
            <a:off x="3977640" y="2615184"/>
            <a:ext cx="182880" cy="182880"/>
          </a:xfrm>
          <a:prstGeom prst="ellipse">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junction-2"/>
          <p:cNvSpPr/>
          <p:nvPr/>
        </p:nvSpPr>
        <p:spPr>
          <a:xfrm>
            <a:off x="3977640" y="2852928"/>
            <a:ext cx="182880" cy="182880"/>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g"/>
          <p:cNvSpPr txBox="1"/>
          <p:nvPr/>
        </p:nvSpPr>
        <p:spPr>
          <a:xfrm>
            <a:off x="3886200" y="1783080"/>
            <a:ext cx="3017520" cy="365760"/>
          </a:xfrm>
          <a:prstGeom prst="rect">
            <a:avLst/>
          </a:prstGeom>
          <a:noFill/>
        </p:spPr>
        <p:txBody>
          <a:bodyPr wrap="square" lIns="0" rIns="0" tIns="0" bIns="0" anchor="t">
            <a:spAutoFit/>
          </a:bodyPr>
          <a:lstStyle/>
          <a:p>
            <a:pPr algn="l"/>
            <a:r>
              <a:rPr sz="1300" b="0" i="0">
                <a:solidFill>
                  <a:srgbClr val="1F2A33"/>
                </a:solidFill>
                <a:latin typeface="Calibri"/>
              </a:rPr>
              <a:t>N  Bd de l'Hôpital (Austerlitz)</a:t>
            </a:r>
          </a:p>
        </p:txBody>
      </p:sp>
      <p:sp>
        <p:nvSpPr>
          <p:cNvPr id="12" name="leg"/>
          <p:cNvSpPr txBox="1"/>
          <p:nvPr/>
        </p:nvSpPr>
        <p:spPr>
          <a:xfrm>
            <a:off x="3886200" y="5669280"/>
            <a:ext cx="3017520" cy="365760"/>
          </a:xfrm>
          <a:prstGeom prst="rect">
            <a:avLst/>
          </a:prstGeom>
          <a:noFill/>
        </p:spPr>
        <p:txBody>
          <a:bodyPr wrap="square" lIns="0" rIns="0" tIns="0" bIns="0" anchor="t">
            <a:spAutoFit/>
          </a:bodyPr>
          <a:lstStyle/>
          <a:p>
            <a:pPr algn="l"/>
            <a:r>
              <a:rPr sz="1300" b="0" i="0">
                <a:solidFill>
                  <a:srgbClr val="1F2A33"/>
                </a:solidFill>
                <a:latin typeface="Calibri"/>
              </a:rPr>
              <a:t>S  Bd de l'Hôpital (Place d'Italie)</a:t>
            </a:r>
          </a:p>
        </p:txBody>
      </p:sp>
      <p:sp>
        <p:nvSpPr>
          <p:cNvPr id="13" name="leg"/>
          <p:cNvSpPr txBox="1"/>
          <p:nvPr/>
        </p:nvSpPr>
        <p:spPr>
          <a:xfrm>
            <a:off x="548640" y="3063240"/>
            <a:ext cx="3017520" cy="365760"/>
          </a:xfrm>
          <a:prstGeom prst="rect">
            <a:avLst/>
          </a:prstGeom>
          <a:noFill/>
        </p:spPr>
        <p:txBody>
          <a:bodyPr wrap="square" lIns="0" rIns="0" tIns="0" bIns="0" anchor="t">
            <a:spAutoFit/>
          </a:bodyPr>
          <a:lstStyle/>
          <a:p>
            <a:pPr algn="l"/>
            <a:r>
              <a:rPr sz="1300" b="0" i="0">
                <a:solidFill>
                  <a:srgbClr val="1F2A33"/>
                </a:solidFill>
                <a:latin typeface="Calibri"/>
              </a:rPr>
              <a:t>W  Bd Saint-Marcel</a:t>
            </a:r>
          </a:p>
        </p:txBody>
      </p:sp>
      <p:sp>
        <p:nvSpPr>
          <p:cNvPr id="14" name="leg"/>
          <p:cNvSpPr txBox="1"/>
          <p:nvPr/>
        </p:nvSpPr>
        <p:spPr>
          <a:xfrm>
            <a:off x="3840480" y="4206240"/>
            <a:ext cx="3017520" cy="365760"/>
          </a:xfrm>
          <a:prstGeom prst="rect">
            <a:avLst/>
          </a:prstGeom>
          <a:noFill/>
        </p:spPr>
        <p:txBody>
          <a:bodyPr wrap="square" lIns="0" rIns="0" tIns="0" bIns="0" anchor="t">
            <a:spAutoFit/>
          </a:bodyPr>
          <a:lstStyle/>
          <a:p>
            <a:pPr algn="l"/>
            <a:r>
              <a:rPr sz="1300" b="0" i="0">
                <a:solidFill>
                  <a:srgbClr val="1F2A33"/>
                </a:solidFill>
                <a:latin typeface="Calibri"/>
              </a:rPr>
              <a:t>NB bus road · hospital gate</a:t>
            </a:r>
          </a:p>
        </p:txBody>
      </p:sp>
      <p:sp>
        <p:nvSpPr>
          <p:cNvPr id="15" name="site-facts"/>
          <p:cNvSpPr txBox="1"/>
          <p:nvPr/>
        </p:nvSpPr>
        <p:spPr>
          <a:xfrm>
            <a:off x="6675120" y="1783080"/>
            <a:ext cx="4967935" cy="4389120"/>
          </a:xfrm>
          <a:prstGeom prst="rect">
            <a:avLst/>
          </a:prstGeom>
          <a:noFill/>
        </p:spPr>
        <p:txBody>
          <a:bodyPr wrap="square" lIns="0" rIns="0" tIns="0" bIns="0" anchor="t">
            <a:spAutoFit/>
          </a:bodyPr>
          <a:lstStyle/>
          <a:p>
            <a:pPr algn="l"/>
            <a:r>
              <a:rPr sz="1600" b="1" i="0">
                <a:solidFill>
                  <a:srgbClr val="0B6E69"/>
                </a:solidFill>
                <a:latin typeface="Calibri"/>
              </a:rPr>
              <a:t>Signalised junction</a:t>
            </a:r>
          </a:p>
          <a:p>
            <a:pPr algn="l">
              <a:spcAft>
                <a:spcPts val="800"/>
              </a:spcAft>
            </a:pPr>
            <a:r>
              <a:rPr sz="1500" b="0" i="0">
                <a:solidFill>
                  <a:srgbClr val="1F2A33"/>
                </a:solidFill>
                <a:latin typeface="Calibri"/>
              </a:rPr>
              <a:t>three general legs, two bus-only legs, four signalised crossings, one traffic light</a:t>
            </a:r>
          </a:p>
          <a:p>
            <a:pPr algn="l"/>
            <a:r>
              <a:rPr sz="1600" b="1" i="0">
                <a:solidFill>
                  <a:srgbClr val="0B6E69"/>
                </a:solidFill>
                <a:latin typeface="Calibri"/>
              </a:rPr>
              <a:t>Buses</a:t>
            </a:r>
          </a:p>
          <a:p>
            <a:pPr algn="l">
              <a:spcAft>
                <a:spcPts val="800"/>
              </a:spcAft>
            </a:pPr>
            <a:r>
              <a:rPr sz="1500" b="0" i="0">
                <a:solidFill>
                  <a:srgbClr val="1F2A33"/>
                </a:solidFill>
                <a:latin typeface="Calibri"/>
              </a:rPr>
              <a:t>lines 91, 24 and 57 with the Saint-Marcel - La Pitié stop</a:t>
            </a:r>
          </a:p>
          <a:p>
            <a:pPr algn="l"/>
            <a:r>
              <a:rPr sz="1600" b="1" i="0">
                <a:solidFill>
                  <a:srgbClr val="0B6E69"/>
                </a:solidFill>
                <a:latin typeface="Calibri"/>
              </a:rPr>
              <a:t>Ambulance</a:t>
            </a:r>
          </a:p>
          <a:p>
            <a:pPr algn="l">
              <a:spcAft>
                <a:spcPts val="800"/>
              </a:spcAft>
            </a:pPr>
            <a:r>
              <a:rPr sz="1500" b="0" i="0">
                <a:solidFill>
                  <a:srgbClr val="1F2A33"/>
                </a:solidFill>
                <a:latin typeface="Calibri"/>
              </a:rPr>
              <a:t>N to S towards the hospital main gate, one per run (seven in the ambulance probe)</a:t>
            </a:r>
          </a:p>
          <a:p>
            <a:pPr algn="l"/>
            <a:r>
              <a:rPr sz="1600" b="1" i="0">
                <a:solidFill>
                  <a:srgbClr val="0B6E69"/>
                </a:solidFill>
                <a:latin typeface="Calibri"/>
              </a:rPr>
              <a:t>Sensors</a:t>
            </a:r>
          </a:p>
          <a:p>
            <a:pPr algn="l">
              <a:spcAft>
                <a:spcPts val="800"/>
              </a:spcAft>
            </a:pPr>
            <a:r>
              <a:rPr sz="1500" b="0" i="0">
                <a:solidFill>
                  <a:srgbClr val="1F2A33"/>
                </a:solidFill>
                <a:latin typeface="Calibri"/>
              </a:rPr>
              <a:t>City of Paris permanent loops: hourly flow and occupancy, one per general approach</a:t>
            </a:r>
          </a:p>
          <a:p>
            <a:pPr algn="l"/>
            <a:r>
              <a:rPr sz="1600" b="1" i="0">
                <a:solidFill>
                  <a:srgbClr val="0B6E69"/>
                </a:solidFill>
                <a:latin typeface="Calibri"/>
              </a:rPr>
              <a:t>Simulated window</a:t>
            </a:r>
          </a:p>
          <a:p>
            <a:pPr algn="l">
              <a:spcAft>
                <a:spcPts val="800"/>
              </a:spcAft>
            </a:pPr>
            <a:r>
              <a:rPr sz="1500" b="0" i="0">
                <a:solidFill>
                  <a:srgbClr val="1F2A33"/>
                </a:solidFill>
                <a:latin typeface="Calibri"/>
              </a:rPr>
              <a:t>07:30-09:30, two hours of the school-term Tue-Thu peak</a:t>
            </a:r>
          </a:p>
        </p:txBody>
      </p:sp>
      <p:sp>
        <p:nvSpPr>
          <p:cNvPr id="16"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17"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From open sensor data to five user views</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Six layers, each with a simpler fallback that already works</a:t>
            </a:r>
          </a:p>
        </p:txBody>
      </p:sp>
      <p:sp>
        <p:nvSpPr>
          <p:cNvPr id="4" name="layer-0"/>
          <p:cNvSpPr/>
          <p:nvPr/>
        </p:nvSpPr>
        <p:spPr>
          <a:xfrm>
            <a:off x="548640" y="2103120"/>
            <a:ext cx="1681429" cy="2651760"/>
          </a:xfrm>
          <a:prstGeom prst="roundRect">
            <a:avLst>
              <a:gd name="adj" fmla="val 6000"/>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yer-name-0"/>
          <p:cNvSpPr txBox="1"/>
          <p:nvPr/>
        </p:nvSpPr>
        <p:spPr>
          <a:xfrm>
            <a:off x="713232" y="2331720"/>
            <a:ext cx="1352245" cy="457200"/>
          </a:xfrm>
          <a:prstGeom prst="rect">
            <a:avLst/>
          </a:prstGeom>
          <a:noFill/>
        </p:spPr>
        <p:txBody>
          <a:bodyPr wrap="square" lIns="0" rIns="0" tIns="0" bIns="0" anchor="t">
            <a:spAutoFit/>
          </a:bodyPr>
          <a:lstStyle/>
          <a:p>
            <a:pPr algn="l"/>
            <a:r>
              <a:rPr sz="1900" b="1" i="0">
                <a:solidFill>
                  <a:srgbClr val="FFFFFF"/>
                </a:solidFill>
                <a:latin typeface="Calibri"/>
              </a:rPr>
              <a:t>Data</a:t>
            </a:r>
          </a:p>
        </p:txBody>
      </p:sp>
      <p:sp>
        <p:nvSpPr>
          <p:cNvPr id="6" name="layer-body-0"/>
          <p:cNvSpPr txBox="1"/>
          <p:nvPr/>
        </p:nvSpPr>
        <p:spPr>
          <a:xfrm>
            <a:off x="713232" y="2971800"/>
            <a:ext cx="1352245" cy="1645920"/>
          </a:xfrm>
          <a:prstGeom prst="rect">
            <a:avLst/>
          </a:prstGeom>
          <a:noFill/>
        </p:spPr>
        <p:txBody>
          <a:bodyPr wrap="square" lIns="0" rIns="0" tIns="0" bIns="0" anchor="t">
            <a:spAutoFit/>
          </a:bodyPr>
          <a:lstStyle/>
          <a:p>
            <a:pPr algn="l"/>
            <a:r>
              <a:rPr sz="1400" b="0" i="0">
                <a:solidFill>
                  <a:srgbClr val="5FB8B0"/>
                </a:solidFill>
                <a:latin typeface="Calibri"/>
              </a:rPr>
              <a:t>Paris permanent sensors, typical school-term days</a:t>
            </a:r>
          </a:p>
        </p:txBody>
      </p:sp>
      <p:cxnSp>
        <p:nvCxnSpPr>
          <p:cNvPr id="7" name="arrow-0"/>
          <p:cNvCxnSpPr/>
          <p:nvPr/>
        </p:nvCxnSpPr>
        <p:spPr>
          <a:xfrm>
            <a:off x="2230069" y="3429000"/>
            <a:ext cx="201168" cy="0"/>
          </a:xfrm>
          <a:prstGeom prst="line">
            <a:avLst/>
          </a:prstGeom>
          <a:ln w="31750">
            <a:solidFill>
              <a:srgbClr val="F2A900"/>
            </a:solidFill>
          </a:ln>
        </p:spPr>
        <p:style>
          <a:lnRef idx="2">
            <a:schemeClr val="accent1"/>
          </a:lnRef>
          <a:fillRef idx="0">
            <a:schemeClr val="accent1"/>
          </a:fillRef>
          <a:effectRef idx="1">
            <a:schemeClr val="accent1"/>
          </a:effectRef>
          <a:fontRef idx="minor">
            <a:schemeClr val="tx1"/>
          </a:fontRef>
        </p:style>
      </p:cxnSp>
      <p:sp>
        <p:nvSpPr>
          <p:cNvPr id="8" name="layer-1"/>
          <p:cNvSpPr/>
          <p:nvPr/>
        </p:nvSpPr>
        <p:spPr>
          <a:xfrm>
            <a:off x="2431237" y="2103120"/>
            <a:ext cx="1681429" cy="265176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yer-name-1"/>
          <p:cNvSpPr txBox="1"/>
          <p:nvPr/>
        </p:nvSpPr>
        <p:spPr>
          <a:xfrm>
            <a:off x="2595829" y="2331720"/>
            <a:ext cx="1352245" cy="457200"/>
          </a:xfrm>
          <a:prstGeom prst="rect">
            <a:avLst/>
          </a:prstGeom>
          <a:noFill/>
        </p:spPr>
        <p:txBody>
          <a:bodyPr wrap="square" lIns="0" rIns="0" tIns="0" bIns="0" anchor="t">
            <a:spAutoFit/>
          </a:bodyPr>
          <a:lstStyle/>
          <a:p>
            <a:pPr algn="l"/>
            <a:r>
              <a:rPr sz="1900" b="1" i="0">
                <a:solidFill>
                  <a:srgbClr val="FFFFFF"/>
                </a:solidFill>
                <a:latin typeface="Calibri"/>
              </a:rPr>
              <a:t>Simulation</a:t>
            </a:r>
          </a:p>
        </p:txBody>
      </p:sp>
      <p:sp>
        <p:nvSpPr>
          <p:cNvPr id="10" name="layer-body-1"/>
          <p:cNvSpPr txBox="1"/>
          <p:nvPr/>
        </p:nvSpPr>
        <p:spPr>
          <a:xfrm>
            <a:off x="2595829" y="2971800"/>
            <a:ext cx="1352245" cy="1645920"/>
          </a:xfrm>
          <a:prstGeom prst="rect">
            <a:avLst/>
          </a:prstGeom>
          <a:noFill/>
        </p:spPr>
        <p:txBody>
          <a:bodyPr wrap="square" lIns="0" rIns="0" tIns="0" bIns="0" anchor="t">
            <a:spAutoFit/>
          </a:bodyPr>
          <a:lstStyle/>
          <a:p>
            <a:pPr algn="l"/>
            <a:r>
              <a:rPr sz="1400" b="0" i="0">
                <a:solidFill>
                  <a:srgbClr val="5FB8B0"/>
                </a:solidFill>
                <a:latin typeface="Calibri"/>
              </a:rPr>
              <a:t>SUMO network from OSM, demand calibrated per arm</a:t>
            </a:r>
          </a:p>
        </p:txBody>
      </p:sp>
      <p:cxnSp>
        <p:nvCxnSpPr>
          <p:cNvPr id="11" name="arrow-1"/>
          <p:cNvCxnSpPr/>
          <p:nvPr/>
        </p:nvCxnSpPr>
        <p:spPr>
          <a:xfrm>
            <a:off x="4112666" y="3429000"/>
            <a:ext cx="201168" cy="0"/>
          </a:xfrm>
          <a:prstGeom prst="line">
            <a:avLst/>
          </a:prstGeom>
          <a:ln w="31750">
            <a:solidFill>
              <a:srgbClr val="F2A900"/>
            </a:solidFill>
          </a:ln>
        </p:spPr>
        <p:style>
          <a:lnRef idx="2">
            <a:schemeClr val="accent1"/>
          </a:lnRef>
          <a:fillRef idx="0">
            <a:schemeClr val="accent1"/>
          </a:fillRef>
          <a:effectRef idx="1">
            <a:schemeClr val="accent1"/>
          </a:effectRef>
          <a:fontRef idx="minor">
            <a:schemeClr val="tx1"/>
          </a:fontRef>
        </p:style>
      </p:cxnSp>
      <p:sp>
        <p:nvSpPr>
          <p:cNvPr id="12" name="layer-2"/>
          <p:cNvSpPr/>
          <p:nvPr/>
        </p:nvSpPr>
        <p:spPr>
          <a:xfrm>
            <a:off x="4313834" y="2103120"/>
            <a:ext cx="1681429" cy="2651760"/>
          </a:xfrm>
          <a:prstGeom prst="roundRect">
            <a:avLst>
              <a:gd name="adj" fmla="val 6000"/>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yer-name-2"/>
          <p:cNvSpPr txBox="1"/>
          <p:nvPr/>
        </p:nvSpPr>
        <p:spPr>
          <a:xfrm>
            <a:off x="4478426" y="2331720"/>
            <a:ext cx="1352245" cy="457200"/>
          </a:xfrm>
          <a:prstGeom prst="rect">
            <a:avLst/>
          </a:prstGeom>
          <a:noFill/>
        </p:spPr>
        <p:txBody>
          <a:bodyPr wrap="square" lIns="0" rIns="0" tIns="0" bIns="0" anchor="t">
            <a:spAutoFit/>
          </a:bodyPr>
          <a:lstStyle/>
          <a:p>
            <a:pPr algn="l"/>
            <a:r>
              <a:rPr sz="1900" b="1" i="0">
                <a:solidFill>
                  <a:srgbClr val="FFFFFF"/>
                </a:solidFill>
                <a:latin typeface="Calibri"/>
              </a:rPr>
              <a:t>Control</a:t>
            </a:r>
          </a:p>
        </p:txBody>
      </p:sp>
      <p:sp>
        <p:nvSpPr>
          <p:cNvPr id="14" name="layer-body-2"/>
          <p:cNvSpPr txBox="1"/>
          <p:nvPr/>
        </p:nvSpPr>
        <p:spPr>
          <a:xfrm>
            <a:off x="4478426" y="2971800"/>
            <a:ext cx="1352245" cy="1645920"/>
          </a:xfrm>
          <a:prstGeom prst="rect">
            <a:avLst/>
          </a:prstGeom>
          <a:noFill/>
        </p:spPr>
        <p:txBody>
          <a:bodyPr wrap="square" lIns="0" rIns="0" tIns="0" bIns="0" anchor="t">
            <a:spAutoFit/>
          </a:bodyPr>
          <a:lstStyle/>
          <a:p>
            <a:pPr algn="l"/>
            <a:r>
              <a:rPr sz="1400" b="0" i="0">
                <a:solidFill>
                  <a:srgbClr val="5FB8B0"/>
                </a:solidFill>
                <a:latin typeface="Calibri"/>
              </a:rPr>
              <a:t>S0 fixed · S1 actuated · S2 rules · S3 RL, one Safety Guard</a:t>
            </a:r>
          </a:p>
        </p:txBody>
      </p:sp>
      <p:cxnSp>
        <p:nvCxnSpPr>
          <p:cNvPr id="15" name="arrow-2"/>
          <p:cNvCxnSpPr/>
          <p:nvPr/>
        </p:nvCxnSpPr>
        <p:spPr>
          <a:xfrm>
            <a:off x="5995263" y="3429000"/>
            <a:ext cx="201168" cy="0"/>
          </a:xfrm>
          <a:prstGeom prst="line">
            <a:avLst/>
          </a:prstGeom>
          <a:ln w="31750">
            <a:solidFill>
              <a:srgbClr val="F2A900"/>
            </a:solidFill>
          </a:ln>
        </p:spPr>
        <p:style>
          <a:lnRef idx="2">
            <a:schemeClr val="accent1"/>
          </a:lnRef>
          <a:fillRef idx="0">
            <a:schemeClr val="accent1"/>
          </a:fillRef>
          <a:effectRef idx="1">
            <a:schemeClr val="accent1"/>
          </a:effectRef>
          <a:fontRef idx="minor">
            <a:schemeClr val="tx1"/>
          </a:fontRef>
        </p:style>
      </p:cxnSp>
      <p:sp>
        <p:nvSpPr>
          <p:cNvPr id="16" name="layer-3"/>
          <p:cNvSpPr/>
          <p:nvPr/>
        </p:nvSpPr>
        <p:spPr>
          <a:xfrm>
            <a:off x="6196431" y="2103120"/>
            <a:ext cx="1681429" cy="265176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yer-name-3"/>
          <p:cNvSpPr txBox="1"/>
          <p:nvPr/>
        </p:nvSpPr>
        <p:spPr>
          <a:xfrm>
            <a:off x="6361023" y="2331720"/>
            <a:ext cx="1352245" cy="457200"/>
          </a:xfrm>
          <a:prstGeom prst="rect">
            <a:avLst/>
          </a:prstGeom>
          <a:noFill/>
        </p:spPr>
        <p:txBody>
          <a:bodyPr wrap="square" lIns="0" rIns="0" tIns="0" bIns="0" anchor="t">
            <a:spAutoFit/>
          </a:bodyPr>
          <a:lstStyle/>
          <a:p>
            <a:pPr algn="l"/>
            <a:r>
              <a:rPr sz="1900" b="1" i="0">
                <a:solidFill>
                  <a:srgbClr val="FFFFFF"/>
                </a:solidFill>
                <a:latin typeface="Calibri"/>
              </a:rPr>
              <a:t>Prediction</a:t>
            </a:r>
          </a:p>
        </p:txBody>
      </p:sp>
      <p:sp>
        <p:nvSpPr>
          <p:cNvPr id="18" name="layer-body-3"/>
          <p:cNvSpPr txBox="1"/>
          <p:nvPr/>
        </p:nvSpPr>
        <p:spPr>
          <a:xfrm>
            <a:off x="6361023" y="2971800"/>
            <a:ext cx="1352245" cy="1645920"/>
          </a:xfrm>
          <a:prstGeom prst="rect">
            <a:avLst/>
          </a:prstGeom>
          <a:noFill/>
        </p:spPr>
        <p:txBody>
          <a:bodyPr wrap="square" lIns="0" rIns="0" tIns="0" bIns="0" anchor="t">
            <a:spAutoFit/>
          </a:bodyPr>
          <a:lstStyle/>
          <a:p>
            <a:pPr algn="l"/>
            <a:r>
              <a:rPr sz="1400" b="0" i="0">
                <a:solidFill>
                  <a:srgbClr val="5FB8B0"/>
                </a:solidFill>
                <a:latin typeface="Calibri"/>
              </a:rPr>
              <a:t>ETA quantiles with a conformal 80 % interval</a:t>
            </a:r>
          </a:p>
        </p:txBody>
      </p:sp>
      <p:cxnSp>
        <p:nvCxnSpPr>
          <p:cNvPr id="19" name="arrow-3"/>
          <p:cNvCxnSpPr/>
          <p:nvPr/>
        </p:nvCxnSpPr>
        <p:spPr>
          <a:xfrm>
            <a:off x="7877860" y="3429000"/>
            <a:ext cx="201168" cy="0"/>
          </a:xfrm>
          <a:prstGeom prst="line">
            <a:avLst/>
          </a:prstGeom>
          <a:ln w="31750">
            <a:solidFill>
              <a:srgbClr val="F2A900"/>
            </a:solidFill>
          </a:ln>
        </p:spPr>
        <p:style>
          <a:lnRef idx="2">
            <a:schemeClr val="accent1"/>
          </a:lnRef>
          <a:fillRef idx="0">
            <a:schemeClr val="accent1"/>
          </a:fillRef>
          <a:effectRef idx="1">
            <a:schemeClr val="accent1"/>
          </a:effectRef>
          <a:fontRef idx="minor">
            <a:schemeClr val="tx1"/>
          </a:fontRef>
        </p:style>
      </p:cxnSp>
      <p:sp>
        <p:nvSpPr>
          <p:cNvPr id="20" name="layer-4"/>
          <p:cNvSpPr/>
          <p:nvPr/>
        </p:nvSpPr>
        <p:spPr>
          <a:xfrm>
            <a:off x="8079028" y="2103120"/>
            <a:ext cx="1681429" cy="2651760"/>
          </a:xfrm>
          <a:prstGeom prst="roundRect">
            <a:avLst>
              <a:gd name="adj" fmla="val 6000"/>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yer-name-4"/>
          <p:cNvSpPr txBox="1"/>
          <p:nvPr/>
        </p:nvSpPr>
        <p:spPr>
          <a:xfrm>
            <a:off x="8243620" y="2331720"/>
            <a:ext cx="1352245" cy="457200"/>
          </a:xfrm>
          <a:prstGeom prst="rect">
            <a:avLst/>
          </a:prstGeom>
          <a:noFill/>
        </p:spPr>
        <p:txBody>
          <a:bodyPr wrap="square" lIns="0" rIns="0" tIns="0" bIns="0" anchor="t">
            <a:spAutoFit/>
          </a:bodyPr>
          <a:lstStyle/>
          <a:p>
            <a:pPr algn="l"/>
            <a:r>
              <a:rPr sz="1900" b="1" i="0">
                <a:solidFill>
                  <a:srgbClr val="FFFFFF"/>
                </a:solidFill>
                <a:latin typeface="Calibri"/>
              </a:rPr>
              <a:t>API</a:t>
            </a:r>
          </a:p>
        </p:txBody>
      </p:sp>
      <p:sp>
        <p:nvSpPr>
          <p:cNvPr id="22" name="layer-body-4"/>
          <p:cNvSpPr txBox="1"/>
          <p:nvPr/>
        </p:nvSpPr>
        <p:spPr>
          <a:xfrm>
            <a:off x="8243620" y="2971800"/>
            <a:ext cx="1352245" cy="1645920"/>
          </a:xfrm>
          <a:prstGeom prst="rect">
            <a:avLst/>
          </a:prstGeom>
          <a:noFill/>
        </p:spPr>
        <p:txBody>
          <a:bodyPr wrap="square" lIns="0" rIns="0" tIns="0" bIns="0" anchor="t">
            <a:spAutoFit/>
          </a:bodyPr>
          <a:lstStyle/>
          <a:p>
            <a:pPr algn="l"/>
            <a:r>
              <a:rPr sz="1400" b="0" i="0">
                <a:solidFill>
                  <a:srgbClr val="5FB8B0"/>
                </a:solidFill>
                <a:latin typeface="Calibri"/>
              </a:rPr>
              <a:t>FastAPI on precomputed runs, one envelope, degraded modes</a:t>
            </a:r>
          </a:p>
        </p:txBody>
      </p:sp>
      <p:cxnSp>
        <p:nvCxnSpPr>
          <p:cNvPr id="23" name="arrow-4"/>
          <p:cNvCxnSpPr/>
          <p:nvPr/>
        </p:nvCxnSpPr>
        <p:spPr>
          <a:xfrm>
            <a:off x="9760457" y="3429000"/>
            <a:ext cx="201168" cy="0"/>
          </a:xfrm>
          <a:prstGeom prst="line">
            <a:avLst/>
          </a:prstGeom>
          <a:ln w="31750">
            <a:solidFill>
              <a:srgbClr val="F2A900"/>
            </a:solidFill>
          </a:ln>
        </p:spPr>
        <p:style>
          <a:lnRef idx="2">
            <a:schemeClr val="accent1"/>
          </a:lnRef>
          <a:fillRef idx="0">
            <a:schemeClr val="accent1"/>
          </a:fillRef>
          <a:effectRef idx="1">
            <a:schemeClr val="accent1"/>
          </a:effectRef>
          <a:fontRef idx="minor">
            <a:schemeClr val="tx1"/>
          </a:fontRef>
        </p:style>
      </p:cxnSp>
      <p:sp>
        <p:nvSpPr>
          <p:cNvPr id="24" name="layer-5"/>
          <p:cNvSpPr/>
          <p:nvPr/>
        </p:nvSpPr>
        <p:spPr>
          <a:xfrm>
            <a:off x="9961625" y="2103120"/>
            <a:ext cx="1681429" cy="265176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ayer-name-5"/>
          <p:cNvSpPr txBox="1"/>
          <p:nvPr/>
        </p:nvSpPr>
        <p:spPr>
          <a:xfrm>
            <a:off x="10126217" y="2331720"/>
            <a:ext cx="1352245" cy="457200"/>
          </a:xfrm>
          <a:prstGeom prst="rect">
            <a:avLst/>
          </a:prstGeom>
          <a:noFill/>
        </p:spPr>
        <p:txBody>
          <a:bodyPr wrap="square" lIns="0" rIns="0" tIns="0" bIns="0" anchor="t">
            <a:spAutoFit/>
          </a:bodyPr>
          <a:lstStyle/>
          <a:p>
            <a:pPr algn="l"/>
            <a:r>
              <a:rPr sz="1900" b="1" i="0">
                <a:solidFill>
                  <a:srgbClr val="FFFFFF"/>
                </a:solidFill>
                <a:latin typeface="Calibri"/>
              </a:rPr>
              <a:t>App</a:t>
            </a:r>
          </a:p>
        </p:txBody>
      </p:sp>
      <p:sp>
        <p:nvSpPr>
          <p:cNvPr id="26" name="layer-body-5"/>
          <p:cNvSpPr txBox="1"/>
          <p:nvPr/>
        </p:nvSpPr>
        <p:spPr>
          <a:xfrm>
            <a:off x="10126217" y="2971800"/>
            <a:ext cx="1352245" cy="1645920"/>
          </a:xfrm>
          <a:prstGeom prst="rect">
            <a:avLst/>
          </a:prstGeom>
          <a:noFill/>
        </p:spPr>
        <p:txBody>
          <a:bodyPr wrap="square" lIns="0" rIns="0" tIns="0" bIns="0" anchor="t">
            <a:spAutoFit/>
          </a:bodyPr>
          <a:lstStyle/>
          <a:p>
            <a:pPr algn="l"/>
            <a:r>
              <a:rPr sz="1400" b="0" i="0">
                <a:solidFill>
                  <a:srgbClr val="5FB8B0"/>
                </a:solidFill>
                <a:latin typeface="Calibri"/>
              </a:rPr>
              <a:t>five profiles, replay, operator dashboard</a:t>
            </a:r>
          </a:p>
        </p:txBody>
      </p:sp>
      <p:sp>
        <p:nvSpPr>
          <p:cNvPr id="27" name="honesty"/>
          <p:cNvSpPr txBox="1"/>
          <p:nvPr/>
        </p:nvSpPr>
        <p:spPr>
          <a:xfrm>
            <a:off x="548640" y="5120640"/>
            <a:ext cx="11094415" cy="914400"/>
          </a:xfrm>
          <a:prstGeom prst="rect">
            <a:avLst/>
          </a:prstGeom>
          <a:noFill/>
        </p:spPr>
        <p:txBody>
          <a:bodyPr wrap="square" lIns="0" rIns="0" tIns="0" bIns="0" anchor="t">
            <a:spAutoFit/>
          </a:bodyPr>
          <a:lstStyle/>
          <a:p>
            <a:pPr algn="l"/>
            <a:r>
              <a:rPr sz="1600" b="0" i="0">
                <a:solidFill>
                  <a:srgbClr val="1F2A33"/>
                </a:solidFill>
                <a:latin typeface="Calibri"/>
              </a:rPr>
              <a:t>Everything the app shows comes from the simulation, through the API, labelled 'données simulées' with the calibration date (ENF-05).</a:t>
            </a:r>
          </a:p>
        </p:txBody>
      </p:sp>
      <p:sp>
        <p:nvSpPr>
          <p:cNvPr id="28"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29"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Twin vs reality: flows PASS, timing not yet measured</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Spec 13.4 asks for three checks before any comparison; one is done</a:t>
            </a:r>
          </a:p>
        </p:txBody>
      </p:sp>
      <p:sp>
        <p:nvSpPr>
          <p:cNvPr id="4" name="tile-0"/>
          <p:cNvSpPr/>
          <p:nvPr/>
        </p:nvSpPr>
        <p:spPr>
          <a:xfrm>
            <a:off x="548640" y="1783080"/>
            <a:ext cx="2567863" cy="228600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le-lamp-0"/>
          <p:cNvSpPr/>
          <p:nvPr/>
        </p:nvSpPr>
        <p:spPr>
          <a:xfrm>
            <a:off x="777240" y="2057400"/>
            <a:ext cx="237744" cy="23774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le-head-0"/>
          <p:cNvSpPr txBox="1"/>
          <p:nvPr/>
        </p:nvSpPr>
        <p:spPr>
          <a:xfrm>
            <a:off x="1143000" y="1993392"/>
            <a:ext cx="1836343" cy="365760"/>
          </a:xfrm>
          <a:prstGeom prst="rect">
            <a:avLst/>
          </a:prstGeom>
          <a:noFill/>
        </p:spPr>
        <p:txBody>
          <a:bodyPr wrap="square" lIns="0" rIns="0" tIns="0" bIns="0" anchor="t">
            <a:spAutoFit/>
          </a:bodyPr>
          <a:lstStyle/>
          <a:p>
            <a:pPr algn="l"/>
            <a:r>
              <a:rPr sz="1600" b="1" i="0">
                <a:solidFill>
                  <a:srgbClr val="1F2A33"/>
                </a:solidFill>
                <a:latin typeface="Calibri"/>
              </a:rPr>
              <a:t>A-02 flows</a:t>
            </a:r>
          </a:p>
        </p:txBody>
      </p:sp>
      <p:sp>
        <p:nvSpPr>
          <p:cNvPr id="7" name="tile-big-0"/>
          <p:cNvSpPr txBox="1"/>
          <p:nvPr/>
        </p:nvSpPr>
        <p:spPr>
          <a:xfrm>
            <a:off x="777240" y="2514600"/>
            <a:ext cx="2110663" cy="822960"/>
          </a:xfrm>
          <a:prstGeom prst="rect">
            <a:avLst/>
          </a:prstGeom>
          <a:noFill/>
        </p:spPr>
        <p:txBody>
          <a:bodyPr wrap="square" lIns="0" rIns="0" tIns="0" bIns="0" anchor="t">
            <a:spAutoFit/>
          </a:bodyPr>
          <a:lstStyle/>
          <a:p>
            <a:pPr algn="l"/>
            <a:r>
              <a:rPr sz="4000" b="1" i="0">
                <a:solidFill>
                  <a:srgbClr val="1F2A33"/>
                </a:solidFill>
                <a:latin typeface="Calibri"/>
              </a:rPr>
              <a:t>6/6</a:t>
            </a:r>
          </a:p>
        </p:txBody>
      </p:sp>
      <p:sp>
        <p:nvSpPr>
          <p:cNvPr id="8" name="tile-small-0"/>
          <p:cNvSpPr txBox="1"/>
          <p:nvPr/>
        </p:nvSpPr>
        <p:spPr>
          <a:xfrm>
            <a:off x="777240" y="3337560"/>
            <a:ext cx="2110663" cy="685800"/>
          </a:xfrm>
          <a:prstGeom prst="rect">
            <a:avLst/>
          </a:prstGeom>
          <a:noFill/>
        </p:spPr>
        <p:txBody>
          <a:bodyPr wrap="square" lIns="0" rIns="0" tIns="0" bIns="0" anchor="t">
            <a:spAutoFit/>
          </a:bodyPr>
          <a:lstStyle/>
          <a:p>
            <a:pPr algn="l"/>
            <a:r>
              <a:rPr sz="1300" b="0" i="0">
                <a:solidFill>
                  <a:srgbClr val="5B6770"/>
                </a:solidFill>
                <a:latin typeface="Calibri"/>
              </a:rPr>
              <a:t>inbound arm × slot rows within ±15 % of the sensors</a:t>
            </a:r>
          </a:p>
        </p:txBody>
      </p:sp>
      <p:sp>
        <p:nvSpPr>
          <p:cNvPr id="9" name="tile-1"/>
          <p:cNvSpPr/>
          <p:nvPr/>
        </p:nvSpPr>
        <p:spPr>
          <a:xfrm>
            <a:off x="3390823" y="1783080"/>
            <a:ext cx="2567863" cy="228600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le-lamp-1"/>
          <p:cNvSpPr/>
          <p:nvPr/>
        </p:nvSpPr>
        <p:spPr>
          <a:xfrm>
            <a:off x="3619423" y="2057400"/>
            <a:ext cx="237744" cy="23774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ile-head-1"/>
          <p:cNvSpPr txBox="1"/>
          <p:nvPr/>
        </p:nvSpPr>
        <p:spPr>
          <a:xfrm>
            <a:off x="3985183" y="1993392"/>
            <a:ext cx="1836343" cy="365760"/>
          </a:xfrm>
          <a:prstGeom prst="rect">
            <a:avLst/>
          </a:prstGeom>
          <a:noFill/>
        </p:spPr>
        <p:txBody>
          <a:bodyPr wrap="square" lIns="0" rIns="0" tIns="0" bIns="0" anchor="t">
            <a:spAutoFit/>
          </a:bodyPr>
          <a:lstStyle/>
          <a:p>
            <a:pPr algn="l"/>
            <a:r>
              <a:rPr sz="1600" b="1" i="0">
                <a:solidFill>
                  <a:srgbClr val="1F2A33"/>
                </a:solidFill>
                <a:latin typeface="Calibri"/>
              </a:rPr>
              <a:t>GEH &lt; 5</a:t>
            </a:r>
          </a:p>
        </p:txBody>
      </p:sp>
      <p:sp>
        <p:nvSpPr>
          <p:cNvPr id="12" name="tile-big-1"/>
          <p:cNvSpPr txBox="1"/>
          <p:nvPr/>
        </p:nvSpPr>
        <p:spPr>
          <a:xfrm>
            <a:off x="3619423" y="2514600"/>
            <a:ext cx="2110663" cy="822960"/>
          </a:xfrm>
          <a:prstGeom prst="rect">
            <a:avLst/>
          </a:prstGeom>
          <a:noFill/>
        </p:spPr>
        <p:txBody>
          <a:bodyPr wrap="square" lIns="0" rIns="0" tIns="0" bIns="0" anchor="t">
            <a:spAutoFit/>
          </a:bodyPr>
          <a:lstStyle/>
          <a:p>
            <a:pPr algn="l"/>
            <a:r>
              <a:rPr sz="4000" b="1" i="0">
                <a:solidFill>
                  <a:srgbClr val="1F2A33"/>
                </a:solidFill>
                <a:latin typeface="Calibri"/>
              </a:rPr>
              <a:t>10/10</a:t>
            </a:r>
          </a:p>
        </p:txBody>
      </p:sp>
      <p:sp>
        <p:nvSpPr>
          <p:cNvPr id="13" name="tile-small-1"/>
          <p:cNvSpPr txBox="1"/>
          <p:nvPr/>
        </p:nvSpPr>
        <p:spPr>
          <a:xfrm>
            <a:off x="3619423" y="3337560"/>
            <a:ext cx="2110663" cy="685800"/>
          </a:xfrm>
          <a:prstGeom prst="rect">
            <a:avLst/>
          </a:prstGeom>
          <a:noFill/>
        </p:spPr>
        <p:txBody>
          <a:bodyPr wrap="square" lIns="0" rIns="0" tIns="0" bIns="0" anchor="t">
            <a:spAutoFit/>
          </a:bodyPr>
          <a:lstStyle/>
          <a:p>
            <a:pPr algn="l"/>
            <a:r>
              <a:rPr sz="1300" b="0" i="0">
                <a:solidFill>
                  <a:srgbClr val="5B6770"/>
                </a:solidFill>
                <a:latin typeface="Calibri"/>
              </a:rPr>
              <a:t>distinct counts</a:t>
            </a:r>
          </a:p>
        </p:txBody>
      </p:sp>
      <p:sp>
        <p:nvSpPr>
          <p:cNvPr id="14" name="tile-2"/>
          <p:cNvSpPr/>
          <p:nvPr/>
        </p:nvSpPr>
        <p:spPr>
          <a:xfrm>
            <a:off x="6233006" y="1783080"/>
            <a:ext cx="2567863" cy="228600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ile-lamp-2"/>
          <p:cNvSpPr/>
          <p:nvPr/>
        </p:nvSpPr>
        <p:spPr>
          <a:xfrm>
            <a:off x="6461606" y="2057400"/>
            <a:ext cx="237744" cy="23774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ile-head-2"/>
          <p:cNvSpPr txBox="1"/>
          <p:nvPr/>
        </p:nvSpPr>
        <p:spPr>
          <a:xfrm>
            <a:off x="6827366" y="1993392"/>
            <a:ext cx="1836343" cy="365760"/>
          </a:xfrm>
          <a:prstGeom prst="rect">
            <a:avLst/>
          </a:prstGeom>
          <a:noFill/>
        </p:spPr>
        <p:txBody>
          <a:bodyPr wrap="square" lIns="0" rIns="0" tIns="0" bIns="0" anchor="t">
            <a:spAutoFit/>
          </a:bodyPr>
          <a:lstStyle/>
          <a:p>
            <a:pPr algn="l"/>
            <a:r>
              <a:rPr sz="1600" b="1" i="0">
                <a:solidFill>
                  <a:srgbClr val="1F2A33"/>
                </a:solidFill>
                <a:latin typeface="Calibri"/>
              </a:rPr>
              <a:t>Signal timing</a:t>
            </a:r>
          </a:p>
        </p:txBody>
      </p:sp>
      <p:sp>
        <p:nvSpPr>
          <p:cNvPr id="17" name="tile-big-2"/>
          <p:cNvSpPr txBox="1"/>
          <p:nvPr/>
        </p:nvSpPr>
        <p:spPr>
          <a:xfrm>
            <a:off x="6461606" y="2514600"/>
            <a:ext cx="2110663" cy="822960"/>
          </a:xfrm>
          <a:prstGeom prst="rect">
            <a:avLst/>
          </a:prstGeom>
          <a:noFill/>
        </p:spPr>
        <p:txBody>
          <a:bodyPr wrap="square" lIns="0" rIns="0" tIns="0" bIns="0" anchor="t">
            <a:spAutoFit/>
          </a:bodyPr>
          <a:lstStyle/>
          <a:p>
            <a:pPr algn="l"/>
            <a:r>
              <a:rPr sz="4000" b="1" i="0">
                <a:solidFill>
                  <a:srgbClr val="1F2A33"/>
                </a:solidFill>
                <a:latin typeface="Calibri"/>
              </a:rPr>
              <a:t>41</a:t>
            </a:r>
          </a:p>
        </p:txBody>
      </p:sp>
      <p:sp>
        <p:nvSpPr>
          <p:cNvPr id="18" name="tile-small-2"/>
          <p:cNvSpPr txBox="1"/>
          <p:nvPr/>
        </p:nvSpPr>
        <p:spPr>
          <a:xfrm>
            <a:off x="6461606" y="3337560"/>
            <a:ext cx="2110663" cy="685800"/>
          </a:xfrm>
          <a:prstGeom prst="rect">
            <a:avLst/>
          </a:prstGeom>
          <a:noFill/>
        </p:spPr>
        <p:txBody>
          <a:bodyPr wrap="square" lIns="0" rIns="0" tIns="0" bIns="0" anchor="t">
            <a:spAutoFit/>
          </a:bodyPr>
          <a:lstStyle/>
          <a:p>
            <a:pPr algn="l"/>
            <a:r>
              <a:rPr sz="1300" b="0" i="0">
                <a:solidFill>
                  <a:srgbClr val="5B6770"/>
                </a:solidFill>
                <a:latin typeface="Calibri"/>
              </a:rPr>
              <a:t>rows NOT_MEASURED until the field visit</a:t>
            </a:r>
          </a:p>
        </p:txBody>
      </p:sp>
      <p:sp>
        <p:nvSpPr>
          <p:cNvPr id="19" name="tile-3"/>
          <p:cNvSpPr/>
          <p:nvPr/>
        </p:nvSpPr>
        <p:spPr>
          <a:xfrm>
            <a:off x="9075189" y="1783080"/>
            <a:ext cx="2567863" cy="228600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ile-lamp-3"/>
          <p:cNvSpPr/>
          <p:nvPr/>
        </p:nvSpPr>
        <p:spPr>
          <a:xfrm>
            <a:off x="9303789" y="2057400"/>
            <a:ext cx="237744" cy="23774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ile-head-3"/>
          <p:cNvSpPr txBox="1"/>
          <p:nvPr/>
        </p:nvSpPr>
        <p:spPr>
          <a:xfrm>
            <a:off x="9669549" y="1993392"/>
            <a:ext cx="1836343" cy="365760"/>
          </a:xfrm>
          <a:prstGeom prst="rect">
            <a:avLst/>
          </a:prstGeom>
          <a:noFill/>
        </p:spPr>
        <p:txBody>
          <a:bodyPr wrap="square" lIns="0" rIns="0" tIns="0" bIns="0" anchor="t">
            <a:spAutoFit/>
          </a:bodyPr>
          <a:lstStyle/>
          <a:p>
            <a:pPr algn="l"/>
            <a:r>
              <a:rPr sz="1600" b="1" i="0">
                <a:solidFill>
                  <a:srgbClr val="1F2A33"/>
                </a:solidFill>
                <a:latin typeface="Calibri"/>
              </a:rPr>
              <a:t>Queues</a:t>
            </a:r>
          </a:p>
        </p:txBody>
      </p:sp>
      <p:sp>
        <p:nvSpPr>
          <p:cNvPr id="22" name="tile-big-3"/>
          <p:cNvSpPr txBox="1"/>
          <p:nvPr/>
        </p:nvSpPr>
        <p:spPr>
          <a:xfrm>
            <a:off x="9303789" y="2514600"/>
            <a:ext cx="2110663" cy="822960"/>
          </a:xfrm>
          <a:prstGeom prst="rect">
            <a:avLst/>
          </a:prstGeom>
          <a:noFill/>
        </p:spPr>
        <p:txBody>
          <a:bodyPr wrap="square" lIns="0" rIns="0" tIns="0" bIns="0" anchor="t">
            <a:spAutoFit/>
          </a:bodyPr>
          <a:lstStyle/>
          <a:p>
            <a:pPr algn="l"/>
            <a:r>
              <a:rPr sz="4000" b="1" i="0">
                <a:solidFill>
                  <a:srgbClr val="1F2A33"/>
                </a:solidFill>
                <a:latin typeface="Calibri"/>
              </a:rPr>
              <a:t>6</a:t>
            </a:r>
          </a:p>
        </p:txBody>
      </p:sp>
      <p:sp>
        <p:nvSpPr>
          <p:cNvPr id="23" name="tile-small-3"/>
          <p:cNvSpPr txBox="1"/>
          <p:nvPr/>
        </p:nvSpPr>
        <p:spPr>
          <a:xfrm>
            <a:off x="9303789" y="3337560"/>
            <a:ext cx="2110663" cy="685800"/>
          </a:xfrm>
          <a:prstGeom prst="rect">
            <a:avLst/>
          </a:prstGeom>
          <a:noFill/>
        </p:spPr>
        <p:txBody>
          <a:bodyPr wrap="square" lIns="0" rIns="0" tIns="0" bIns="0" anchor="t">
            <a:spAutoFit/>
          </a:bodyPr>
          <a:lstStyle/>
          <a:p>
            <a:pPr algn="l"/>
            <a:r>
              <a:rPr sz="1300" b="0" i="0">
                <a:solidFill>
                  <a:srgbClr val="5B6770"/>
                </a:solidFill>
                <a:latin typeface="Calibri"/>
              </a:rPr>
              <a:t>rows NOT_MEASURED until the field visit</a:t>
            </a:r>
          </a:p>
        </p:txBody>
      </p:sp>
      <p:sp>
        <p:nvSpPr>
          <p:cNvPr id="24" name="assumed"/>
          <p:cNvSpPr txBox="1"/>
          <p:nvPr/>
        </p:nvSpPr>
        <p:spPr>
          <a:xfrm>
            <a:off x="548640" y="4343400"/>
            <a:ext cx="11094415" cy="1737360"/>
          </a:xfrm>
          <a:prstGeom prst="rect">
            <a:avLst/>
          </a:prstGeom>
          <a:noFill/>
        </p:spPr>
        <p:txBody>
          <a:bodyPr wrap="square" lIns="0" rIns="0" tIns="0" bIns="0" anchor="t">
            <a:spAutoFit/>
          </a:bodyPr>
          <a:lstStyle/>
          <a:p>
            <a:pPr algn="l">
              <a:spcAft>
                <a:spcPts val="400"/>
              </a:spcAft>
            </a:pPr>
            <a:r>
              <a:rPr sz="1700" b="1" i="0">
                <a:solidFill>
                  <a:srgbClr val="F2A900"/>
                </a:solidFill>
                <a:latin typeface="Calibri"/>
              </a:rPr>
              <a:t>What is ASSUMED</a:t>
            </a:r>
          </a:p>
          <a:p>
            <a:pPr algn="l"/>
            <a:r>
              <a:rPr sz="1500" b="0" i="0">
                <a:solidFill>
                  <a:srgbClr val="1F2A33"/>
                </a:solidFill>
                <a:latin typeface="Calibri"/>
              </a:rPr>
              <a:t>The signal program (cycle and greens), turn shares, lane use, bus headways and dwell, pedestrian flows. The inbound flow check is close to circular: the demand is built from the same sensors. The field visit (3-5 Nov 2026) measures the program and the queues; every result is provisional until then.</a:t>
            </a:r>
          </a:p>
        </p:txBody>
      </p:sp>
      <p:sp>
        <p:nvSpPr>
          <p:cNvPr id="25"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26"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Four controllers behind one Safety Guard</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Same demand, same seeds; the guard filters every stage request of every controller</a:t>
            </a:r>
          </a:p>
        </p:txBody>
      </p:sp>
      <p:sp>
        <p:nvSpPr>
          <p:cNvPr id="4" name="ctrl-0"/>
          <p:cNvSpPr/>
          <p:nvPr/>
        </p:nvSpPr>
        <p:spPr>
          <a:xfrm>
            <a:off x="548640" y="1783080"/>
            <a:ext cx="2567863" cy="23317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trl-label-0"/>
          <p:cNvSpPr txBox="1"/>
          <p:nvPr/>
        </p:nvSpPr>
        <p:spPr>
          <a:xfrm>
            <a:off x="777240" y="1965960"/>
            <a:ext cx="2110663" cy="548640"/>
          </a:xfrm>
          <a:prstGeom prst="rect">
            <a:avLst/>
          </a:prstGeom>
          <a:noFill/>
        </p:spPr>
        <p:txBody>
          <a:bodyPr wrap="square" lIns="0" rIns="0" tIns="0" bIns="0" anchor="t">
            <a:spAutoFit/>
          </a:bodyPr>
          <a:lstStyle/>
          <a:p>
            <a:pPr algn="l"/>
            <a:r>
              <a:rPr sz="3000" b="1" i="0">
                <a:solidFill>
                  <a:srgbClr val="0B6E69"/>
                </a:solidFill>
                <a:latin typeface="Calibri"/>
              </a:rPr>
              <a:t>S0</a:t>
            </a:r>
          </a:p>
        </p:txBody>
      </p:sp>
      <p:sp>
        <p:nvSpPr>
          <p:cNvPr id="6" name="ctrl-name-0"/>
          <p:cNvSpPr txBox="1"/>
          <p:nvPr/>
        </p:nvSpPr>
        <p:spPr>
          <a:xfrm>
            <a:off x="777240" y="2560320"/>
            <a:ext cx="2110663" cy="411480"/>
          </a:xfrm>
          <a:prstGeom prst="rect">
            <a:avLst/>
          </a:prstGeom>
          <a:noFill/>
        </p:spPr>
        <p:txBody>
          <a:bodyPr wrap="square" lIns="0" rIns="0" tIns="0" bIns="0" anchor="t">
            <a:spAutoFit/>
          </a:bodyPr>
          <a:lstStyle/>
          <a:p>
            <a:pPr algn="l"/>
            <a:r>
              <a:rPr sz="1700" b="1" i="0">
                <a:solidFill>
                  <a:srgbClr val="1F2A33"/>
                </a:solidFill>
                <a:latin typeface="Calibri"/>
              </a:rPr>
              <a:t>Fixed time</a:t>
            </a:r>
          </a:p>
        </p:txBody>
      </p:sp>
      <p:sp>
        <p:nvSpPr>
          <p:cNvPr id="7" name="ctrl-body-0"/>
          <p:cNvSpPr txBox="1"/>
          <p:nvPr/>
        </p:nvSpPr>
        <p:spPr>
          <a:xfrm>
            <a:off x="777240" y="3017520"/>
            <a:ext cx="2110663" cy="1005840"/>
          </a:xfrm>
          <a:prstGeom prst="rect">
            <a:avLst/>
          </a:prstGeom>
          <a:noFill/>
        </p:spPr>
        <p:txBody>
          <a:bodyPr wrap="square" lIns="0" rIns="0" tIns="0" bIns="0" anchor="t">
            <a:spAutoFit/>
          </a:bodyPr>
          <a:lstStyle/>
          <a:p>
            <a:pPr algn="l"/>
            <a:r>
              <a:rPr sz="1400" b="0" i="0">
                <a:solidFill>
                  <a:srgbClr val="5B6770"/>
                </a:solidFill>
                <a:latin typeface="Calibri"/>
              </a:rPr>
              <a:t>the ASSUMED provisional program</a:t>
            </a:r>
          </a:p>
        </p:txBody>
      </p:sp>
      <p:sp>
        <p:nvSpPr>
          <p:cNvPr id="8" name="ctrl-1"/>
          <p:cNvSpPr/>
          <p:nvPr/>
        </p:nvSpPr>
        <p:spPr>
          <a:xfrm>
            <a:off x="3390823" y="1783080"/>
            <a:ext cx="2567863" cy="23317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trl-label-1"/>
          <p:cNvSpPr txBox="1"/>
          <p:nvPr/>
        </p:nvSpPr>
        <p:spPr>
          <a:xfrm>
            <a:off x="3619423" y="1965960"/>
            <a:ext cx="2110663" cy="548640"/>
          </a:xfrm>
          <a:prstGeom prst="rect">
            <a:avLst/>
          </a:prstGeom>
          <a:noFill/>
        </p:spPr>
        <p:txBody>
          <a:bodyPr wrap="square" lIns="0" rIns="0" tIns="0" bIns="0" anchor="t">
            <a:spAutoFit/>
          </a:bodyPr>
          <a:lstStyle/>
          <a:p>
            <a:pPr algn="l"/>
            <a:r>
              <a:rPr sz="3000" b="1" i="0">
                <a:solidFill>
                  <a:srgbClr val="0B6E69"/>
                </a:solidFill>
                <a:latin typeface="Calibri"/>
              </a:rPr>
              <a:t>S1</a:t>
            </a:r>
          </a:p>
        </p:txBody>
      </p:sp>
      <p:sp>
        <p:nvSpPr>
          <p:cNvPr id="10" name="ctrl-name-1"/>
          <p:cNvSpPr txBox="1"/>
          <p:nvPr/>
        </p:nvSpPr>
        <p:spPr>
          <a:xfrm>
            <a:off x="3619423" y="2560320"/>
            <a:ext cx="2110663" cy="411480"/>
          </a:xfrm>
          <a:prstGeom prst="rect">
            <a:avLst/>
          </a:prstGeom>
          <a:noFill/>
        </p:spPr>
        <p:txBody>
          <a:bodyPr wrap="square" lIns="0" rIns="0" tIns="0" bIns="0" anchor="t">
            <a:spAutoFit/>
          </a:bodyPr>
          <a:lstStyle/>
          <a:p>
            <a:pPr algn="l"/>
            <a:r>
              <a:rPr sz="1700" b="1" i="0">
                <a:solidFill>
                  <a:srgbClr val="1F2A33"/>
                </a:solidFill>
                <a:latin typeface="Calibri"/>
              </a:rPr>
              <a:t>Actuated</a:t>
            </a:r>
          </a:p>
        </p:txBody>
      </p:sp>
      <p:sp>
        <p:nvSpPr>
          <p:cNvPr id="11" name="ctrl-body-1"/>
          <p:cNvSpPr txBox="1"/>
          <p:nvPr/>
        </p:nvSpPr>
        <p:spPr>
          <a:xfrm>
            <a:off x="3619423" y="3017520"/>
            <a:ext cx="2110663" cy="1005840"/>
          </a:xfrm>
          <a:prstGeom prst="rect">
            <a:avLst/>
          </a:prstGeom>
          <a:noFill/>
        </p:spPr>
        <p:txBody>
          <a:bodyPr wrap="square" lIns="0" rIns="0" tIns="0" bIns="0" anchor="t">
            <a:spAutoFit/>
          </a:bodyPr>
          <a:lstStyle/>
          <a:p>
            <a:pPr algn="l"/>
            <a:r>
              <a:rPr sz="1400" b="0" i="0">
                <a:solidFill>
                  <a:srgbClr val="5B6770"/>
                </a:solidFill>
                <a:latin typeface="Calibri"/>
              </a:rPr>
              <a:t>SUMO-style gap logic: extend a green while vehicles arrive</a:t>
            </a:r>
          </a:p>
        </p:txBody>
      </p:sp>
      <p:sp>
        <p:nvSpPr>
          <p:cNvPr id="12" name="ctrl-2"/>
          <p:cNvSpPr/>
          <p:nvPr/>
        </p:nvSpPr>
        <p:spPr>
          <a:xfrm>
            <a:off x="6233006" y="1783080"/>
            <a:ext cx="2567863" cy="23317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trl-label-2"/>
          <p:cNvSpPr txBox="1"/>
          <p:nvPr/>
        </p:nvSpPr>
        <p:spPr>
          <a:xfrm>
            <a:off x="6461606" y="1965960"/>
            <a:ext cx="2110663" cy="548640"/>
          </a:xfrm>
          <a:prstGeom prst="rect">
            <a:avLst/>
          </a:prstGeom>
          <a:noFill/>
        </p:spPr>
        <p:txBody>
          <a:bodyPr wrap="square" lIns="0" rIns="0" tIns="0" bIns="0" anchor="t">
            <a:spAutoFit/>
          </a:bodyPr>
          <a:lstStyle/>
          <a:p>
            <a:pPr algn="l"/>
            <a:r>
              <a:rPr sz="3000" b="1" i="0">
                <a:solidFill>
                  <a:srgbClr val="0B6E69"/>
                </a:solidFill>
                <a:latin typeface="Calibri"/>
              </a:rPr>
              <a:t>S2</a:t>
            </a:r>
          </a:p>
        </p:txBody>
      </p:sp>
      <p:sp>
        <p:nvSpPr>
          <p:cNvPr id="14" name="ctrl-name-2"/>
          <p:cNvSpPr txBox="1"/>
          <p:nvPr/>
        </p:nvSpPr>
        <p:spPr>
          <a:xfrm>
            <a:off x="6461606" y="2560320"/>
            <a:ext cx="2110663" cy="411480"/>
          </a:xfrm>
          <a:prstGeom prst="rect">
            <a:avLst/>
          </a:prstGeom>
          <a:noFill/>
        </p:spPr>
        <p:txBody>
          <a:bodyPr wrap="square" lIns="0" rIns="0" tIns="0" bIns="0" anchor="t">
            <a:spAutoFit/>
          </a:bodyPr>
          <a:lstStyle/>
          <a:p>
            <a:pPr algn="l"/>
            <a:r>
              <a:rPr sz="1700" b="1" i="0">
                <a:solidFill>
                  <a:srgbClr val="1F2A33"/>
                </a:solidFill>
                <a:latin typeface="Calibri"/>
              </a:rPr>
              <a:t>Rules</a:t>
            </a:r>
          </a:p>
        </p:txBody>
      </p:sp>
      <p:sp>
        <p:nvSpPr>
          <p:cNvPr id="15" name="ctrl-body-2"/>
          <p:cNvSpPr txBox="1"/>
          <p:nvPr/>
        </p:nvSpPr>
        <p:spPr>
          <a:xfrm>
            <a:off x="6461606" y="3017520"/>
            <a:ext cx="2110663" cy="1005840"/>
          </a:xfrm>
          <a:prstGeom prst="rect">
            <a:avLst/>
          </a:prstGeom>
          <a:noFill/>
        </p:spPr>
        <p:txBody>
          <a:bodyPr wrap="square" lIns="0" rIns="0" tIns="0" bIns="0" anchor="t">
            <a:spAutoFit/>
          </a:bodyPr>
          <a:lstStyle/>
          <a:p>
            <a:pPr algn="l"/>
            <a:r>
              <a:rPr sz="1400" b="0" i="0">
                <a:solidFill>
                  <a:srgbClr val="5B6770"/>
                </a:solidFill>
                <a:latin typeface="Calibri"/>
              </a:rPr>
              <a:t>ambulance preemption, bus priority, box clearing, pedestrian protection</a:t>
            </a:r>
          </a:p>
        </p:txBody>
      </p:sp>
      <p:sp>
        <p:nvSpPr>
          <p:cNvPr id="16" name="ctrl-3"/>
          <p:cNvSpPr/>
          <p:nvPr/>
        </p:nvSpPr>
        <p:spPr>
          <a:xfrm>
            <a:off x="9075189" y="1783080"/>
            <a:ext cx="2567863" cy="23317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trl-label-3"/>
          <p:cNvSpPr txBox="1"/>
          <p:nvPr/>
        </p:nvSpPr>
        <p:spPr>
          <a:xfrm>
            <a:off x="9303789" y="1965960"/>
            <a:ext cx="2110663" cy="548640"/>
          </a:xfrm>
          <a:prstGeom prst="rect">
            <a:avLst/>
          </a:prstGeom>
          <a:noFill/>
        </p:spPr>
        <p:txBody>
          <a:bodyPr wrap="square" lIns="0" rIns="0" tIns="0" bIns="0" anchor="t">
            <a:spAutoFit/>
          </a:bodyPr>
          <a:lstStyle/>
          <a:p>
            <a:pPr algn="l"/>
            <a:r>
              <a:rPr sz="3000" b="1" i="0">
                <a:solidFill>
                  <a:srgbClr val="0B6E69"/>
                </a:solidFill>
                <a:latin typeface="Calibri"/>
              </a:rPr>
              <a:t>S3</a:t>
            </a:r>
          </a:p>
        </p:txBody>
      </p:sp>
      <p:sp>
        <p:nvSpPr>
          <p:cNvPr id="18" name="ctrl-name-3"/>
          <p:cNvSpPr txBox="1"/>
          <p:nvPr/>
        </p:nvSpPr>
        <p:spPr>
          <a:xfrm>
            <a:off x="9303789" y="2560320"/>
            <a:ext cx="2110663" cy="411480"/>
          </a:xfrm>
          <a:prstGeom prst="rect">
            <a:avLst/>
          </a:prstGeom>
          <a:noFill/>
        </p:spPr>
        <p:txBody>
          <a:bodyPr wrap="square" lIns="0" rIns="0" tIns="0" bIns="0" anchor="t">
            <a:spAutoFit/>
          </a:bodyPr>
          <a:lstStyle/>
          <a:p>
            <a:pPr algn="l"/>
            <a:r>
              <a:rPr sz="1700" b="1" i="0">
                <a:solidFill>
                  <a:srgbClr val="1F2A33"/>
                </a:solidFill>
                <a:latin typeface="Calibri"/>
              </a:rPr>
              <a:t>Reinforcement learning</a:t>
            </a:r>
          </a:p>
        </p:txBody>
      </p:sp>
      <p:sp>
        <p:nvSpPr>
          <p:cNvPr id="19" name="ctrl-body-3"/>
          <p:cNvSpPr txBox="1"/>
          <p:nvPr/>
        </p:nvSpPr>
        <p:spPr>
          <a:xfrm>
            <a:off x="9303789" y="3017520"/>
            <a:ext cx="2110663" cy="1005840"/>
          </a:xfrm>
          <a:prstGeom prst="rect">
            <a:avLst/>
          </a:prstGeom>
          <a:noFill/>
        </p:spPr>
        <p:txBody>
          <a:bodyPr wrap="square" lIns="0" rIns="0" tIns="0" bIns="0" anchor="t">
            <a:spAutoFit/>
          </a:bodyPr>
          <a:lstStyle/>
          <a:p>
            <a:pPr algn="l"/>
            <a:r>
              <a:rPr sz="1400" b="0" i="0">
                <a:solidFill>
                  <a:srgbClr val="5B6770"/>
                </a:solidFill>
                <a:latin typeface="Calibri"/>
              </a:rPr>
              <a:t>a DQN policy choosing stay or advance every few seconds</a:t>
            </a:r>
          </a:p>
        </p:txBody>
      </p:sp>
      <p:sp>
        <p:nvSpPr>
          <p:cNvPr id="20" name="guard"/>
          <p:cNvSpPr/>
          <p:nvPr/>
        </p:nvSpPr>
        <p:spPr>
          <a:xfrm>
            <a:off x="548640" y="4343400"/>
            <a:ext cx="11094415" cy="1691640"/>
          </a:xfrm>
          <a:prstGeom prst="roundRect">
            <a:avLst>
              <a:gd name="adj" fmla="val 6000"/>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uard-text"/>
          <p:cNvSpPr txBox="1"/>
          <p:nvPr/>
        </p:nvSpPr>
        <p:spPr>
          <a:xfrm>
            <a:off x="868680" y="4498848"/>
            <a:ext cx="10454335" cy="1463040"/>
          </a:xfrm>
          <a:prstGeom prst="rect">
            <a:avLst/>
          </a:prstGeom>
          <a:noFill/>
        </p:spPr>
        <p:txBody>
          <a:bodyPr wrap="square" lIns="0" rIns="0" tIns="0" bIns="0" anchor="t">
            <a:spAutoFit/>
          </a:bodyPr>
          <a:lstStyle/>
          <a:p>
            <a:pPr algn="l">
              <a:spcAft>
                <a:spcPts val="400"/>
              </a:spcAft>
            </a:pPr>
            <a:r>
              <a:rPr sz="1800" b="1" i="0">
                <a:solidFill>
                  <a:srgbClr val="FFFFFF"/>
                </a:solidFill>
                <a:latin typeface="Calibri"/>
              </a:rPr>
              <a:t>Safety Guard (EF-11)</a:t>
            </a:r>
          </a:p>
          <a:p>
            <a:pPr algn="l"/>
            <a:r>
              <a:rPr sz="1500" b="0" i="0">
                <a:solidFill>
                  <a:srgbClr val="5FB8B0"/>
                </a:solidFill>
                <a:latin typeface="Calibri"/>
              </a:rPr>
              <a:t>Clearance never cut · min green · strict stage order · max green · anti-starvation · and last, the pedestrian shield: no crossing waits past the 90 s bound. Every run audits the phases it showed.</a:t>
            </a:r>
          </a:p>
        </p:txBody>
      </p:sp>
      <p:sp>
        <p:nvSpPr>
          <p:cNvPr id="22"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23"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Rules cut the delay per person by 23 % against fixed time</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Mean delay per person (all users, occupancy-weighted), seeds 1-10, paired, same demand</a:t>
            </a:r>
          </a:p>
        </p:txBody>
      </p:sp>
      <p:graphicFrame>
        <p:nvGraphicFramePr>
          <p:cNvPr id="4" name="chart-person-delay"/>
          <p:cNvGraphicFramePr>
            <a:graphicFrameLocks noGrp="1"/>
          </p:cNvGraphicFramePr>
          <p:nvPr/>
        </p:nvGraphicFramePr>
        <p:xfrm>
          <a:off x="548640" y="1691640"/>
          <a:ext cx="6949440" cy="4526280"/>
        </p:xfrm>
        <a:graphic>
          <a:graphicData uri="http://schemas.openxmlformats.org/drawingml/2006/chart">
            <c:chart xmlns:c="http://schemas.openxmlformats.org/drawingml/2006/chart" r:id="rId2"/>
          </a:graphicData>
        </a:graphic>
      </p:graphicFrame>
      <p:sp>
        <p:nvSpPr>
          <p:cNvPr id="5" name="stat-card"/>
          <p:cNvSpPr/>
          <p:nvPr/>
        </p:nvSpPr>
        <p:spPr>
          <a:xfrm>
            <a:off x="7863840" y="1691640"/>
            <a:ext cx="3779215" cy="21031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8138160" y="1810512"/>
            <a:ext cx="3230575" cy="1005840"/>
          </a:xfrm>
          <a:prstGeom prst="rect">
            <a:avLst/>
          </a:prstGeom>
          <a:noFill/>
        </p:spPr>
        <p:txBody>
          <a:bodyPr wrap="square" lIns="0" rIns="0" tIns="0" bIns="0" anchor="t">
            <a:spAutoFit/>
          </a:bodyPr>
          <a:lstStyle/>
          <a:p>
            <a:pPr algn="l"/>
            <a:r>
              <a:rPr sz="5800" b="1" i="0">
                <a:solidFill>
                  <a:srgbClr val="0B6E69"/>
                </a:solidFill>
                <a:latin typeface="Calibri"/>
              </a:rPr>
              <a:t>-23 %</a:t>
            </a:r>
          </a:p>
        </p:txBody>
      </p:sp>
      <p:sp>
        <p:nvSpPr>
          <p:cNvPr id="7" name="stat-label"/>
          <p:cNvSpPr txBox="1"/>
          <p:nvPr/>
        </p:nvSpPr>
        <p:spPr>
          <a:xfrm>
            <a:off x="8138160" y="2880360"/>
            <a:ext cx="3230575" cy="822960"/>
          </a:xfrm>
          <a:prstGeom prst="rect">
            <a:avLst/>
          </a:prstGeom>
          <a:noFill/>
        </p:spPr>
        <p:txBody>
          <a:bodyPr wrap="square" lIns="0" rIns="0" tIns="0" bIns="0" anchor="t">
            <a:spAutoFit/>
          </a:bodyPr>
          <a:lstStyle/>
          <a:p>
            <a:pPr algn="l"/>
            <a:r>
              <a:rPr sz="1600" b="0" i="0">
                <a:solidFill>
                  <a:srgbClr val="1F2A33"/>
                </a:solidFill>
                <a:latin typeface="Calibri"/>
              </a:rPr>
              <a:t>S2 vs S0: 63.6 s → 48.9 s per person</a:t>
            </a:r>
          </a:p>
        </p:txBody>
      </p:sp>
      <p:sp>
        <p:nvSpPr>
          <p:cNvPr id="8" name="a06-card"/>
          <p:cNvSpPr/>
          <p:nvPr/>
        </p:nvSpPr>
        <p:spPr>
          <a:xfrm>
            <a:off x="7863840" y="4069080"/>
            <a:ext cx="3779215" cy="2148840"/>
          </a:xfrm>
          <a:prstGeom prst="roundRect">
            <a:avLst>
              <a:gd name="adj" fmla="val 6000"/>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06-lamp"/>
          <p:cNvSpPr/>
          <p:nvPr/>
        </p:nvSpPr>
        <p:spPr>
          <a:xfrm>
            <a:off x="8138160" y="4361688"/>
            <a:ext cx="274320" cy="274320"/>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06-text"/>
          <p:cNvSpPr txBox="1"/>
          <p:nvPr/>
        </p:nvSpPr>
        <p:spPr>
          <a:xfrm>
            <a:off x="8595360" y="4297680"/>
            <a:ext cx="2819095" cy="1828800"/>
          </a:xfrm>
          <a:prstGeom prst="rect">
            <a:avLst/>
          </a:prstGeom>
          <a:noFill/>
        </p:spPr>
        <p:txBody>
          <a:bodyPr wrap="square" lIns="0" rIns="0" tIns="0" bIns="0" anchor="t">
            <a:spAutoFit/>
          </a:bodyPr>
          <a:lstStyle/>
          <a:p>
            <a:pPr algn="l"/>
            <a:r>
              <a:rPr sz="1800" b="1" i="0">
                <a:solidFill>
                  <a:srgbClr val="FFFFFF"/>
                </a:solidFill>
                <a:latin typeface="Calibri"/>
              </a:rPr>
              <a:t>A-06 PASS: S3 on seeds 1-10</a:t>
            </a:r>
          </a:p>
          <a:p>
            <a:pPr algn="l"/>
            <a:r>
              <a:rPr sz="1400" b="0" i="0">
                <a:solidFill>
                  <a:srgbClr val="5FB8B0"/>
                </a:solidFill>
                <a:latin typeface="Calibri"/>
              </a:rPr>
              <a:t>S3 vs S1 (actuated): all/person_delay_mean 57.1 → 46.0 s (n = 10), HL -9.5 s [95 % CI -17.5, -6.4], exact two-sided p 0.0020, Holm p 0.0059 (α 0.05): S3 better</a:t>
            </a:r>
          </a:p>
        </p:txBody>
      </p:sp>
      <p:sp>
        <p:nvSpPr>
          <p:cNvPr id="11"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12"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Who pays? Pedestrian curb wait worsens most: +7.0 % (S3 RL)</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Change against S0 per user's headline KPI, seeds 1-10 (negative is better)</a:t>
            </a:r>
          </a:p>
        </p:txBody>
      </p:sp>
      <p:graphicFrame>
        <p:nvGraphicFramePr>
          <p:cNvPr id="4" name="chart-equity"/>
          <p:cNvGraphicFramePr>
            <a:graphicFrameLocks noGrp="1"/>
          </p:cNvGraphicFramePr>
          <p:nvPr/>
        </p:nvGraphicFramePr>
        <p:xfrm>
          <a:off x="548640" y="1691640"/>
          <a:ext cx="7589520" cy="4526280"/>
        </p:xfrm>
        <a:graphic>
          <a:graphicData uri="http://schemas.openxmlformats.org/drawingml/2006/chart">
            <c:chart xmlns:c="http://schemas.openxmlformats.org/drawingml/2006/chart" r:id="rId2"/>
          </a:graphicData>
        </a:graphic>
      </p:graphicFrame>
      <p:sp>
        <p:nvSpPr>
          <p:cNvPr id="5" name="hidden"/>
          <p:cNvSpPr txBox="1"/>
          <p:nvPr/>
        </p:nvSpPr>
        <p:spPr>
          <a:xfrm>
            <a:off x="8503919" y="1783080"/>
            <a:ext cx="3139136" cy="2377440"/>
          </a:xfrm>
          <a:prstGeom prst="rect">
            <a:avLst/>
          </a:prstGeom>
          <a:noFill/>
        </p:spPr>
        <p:txBody>
          <a:bodyPr wrap="square" lIns="0" rIns="0" tIns="0" bIns="0" anchor="t">
            <a:spAutoFit/>
          </a:bodyPr>
          <a:lstStyle/>
          <a:p>
            <a:pPr algn="l">
              <a:spcAft>
                <a:spcPts val="400"/>
              </a:spcAft>
            </a:pPr>
            <a:r>
              <a:rPr sz="1700" b="1" i="0">
                <a:solidFill>
                  <a:srgbClr val="1F2A33"/>
                </a:solidFill>
                <a:latin typeface="Calibri"/>
              </a:rPr>
              <a:t>Hidden degradation (13.3)</a:t>
            </a:r>
          </a:p>
          <a:p>
            <a:pPr algn="l"/>
            <a:r>
              <a:rPr sz="1400" b="0" i="0">
                <a:solidFill>
                  <a:srgbClr val="1F2A33"/>
                </a:solidFill>
                <a:latin typeface="Calibri"/>
              </a:rPr>
              <a:t>Flagged: main S1, main S2, main S2_noP, main S3, main S4, ambulance_probe S2, ambulance_probe S2_noP, ambulance_probe S3, ambulance_probe S4. The person delay improves while a car arm, a bus flow or a crossing is more than 5 % worse than S0.</a:t>
            </a:r>
          </a:p>
        </p:txBody>
      </p:sp>
      <p:sp>
        <p:nvSpPr>
          <p:cNvPr id="6"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7"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Preemption: the ambulance arrives 36 s sooner (A-05 PASS)</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Travel time from the planned departure, main family, one ambulance per run, seeds 1-10</a:t>
            </a:r>
          </a:p>
        </p:txBody>
      </p:sp>
      <p:graphicFrame>
        <p:nvGraphicFramePr>
          <p:cNvPr id="4" name="chart-ambulance"/>
          <p:cNvGraphicFramePr>
            <a:graphicFrameLocks noGrp="1"/>
          </p:cNvGraphicFramePr>
          <p:nvPr/>
        </p:nvGraphicFramePr>
        <p:xfrm>
          <a:off x="548640" y="1691640"/>
          <a:ext cx="5852160" cy="4526280"/>
        </p:xfrm>
        <a:graphic>
          <a:graphicData uri="http://schemas.openxmlformats.org/drawingml/2006/chart">
            <c:chart xmlns:c="http://schemas.openxmlformats.org/drawingml/2006/chart" r:id="rId2"/>
          </a:graphicData>
        </a:graphic>
      </p:graphicFrame>
      <p:sp>
        <p:nvSpPr>
          <p:cNvPr id="5" name="a05-detail"/>
          <p:cNvSpPr txBox="1"/>
          <p:nvPr/>
        </p:nvSpPr>
        <p:spPr>
          <a:xfrm>
            <a:off x="6858000" y="1783080"/>
            <a:ext cx="4785055" cy="4389120"/>
          </a:xfrm>
          <a:prstGeom prst="rect">
            <a:avLst/>
          </a:prstGeom>
          <a:noFill/>
        </p:spPr>
        <p:txBody>
          <a:bodyPr wrap="square" lIns="0" rIns="0" tIns="0" bIns="0" anchor="t">
            <a:spAutoFit/>
          </a:bodyPr>
          <a:lstStyle/>
          <a:p>
            <a:pPr algn="l"/>
            <a:r>
              <a:rPr sz="1600" b="1" i="0">
                <a:solidFill>
                  <a:srgbClr val="0B6E69"/>
                </a:solidFill>
                <a:latin typeface="Calibri"/>
              </a:rPr>
              <a:t>Main family, S2 vs S0 (A-05)</a:t>
            </a:r>
          </a:p>
          <a:p>
            <a:pPr algn="l">
              <a:spcAft>
                <a:spcPts val="1000"/>
              </a:spcAft>
            </a:pPr>
            <a:r>
              <a:rPr sz="1500" b="0" i="0">
                <a:solidFill>
                  <a:srgbClr val="1F2A33"/>
                </a:solidFill>
                <a:latin typeface="Calibri"/>
              </a:rPr>
              <a:t>HL -36.5 s [-70.0, -14.0] s, one-sided p 0.0020</a:t>
            </a:r>
          </a:p>
          <a:p>
            <a:pPr algn="l"/>
            <a:r>
              <a:rPr sz="1600" b="1" i="0">
                <a:solidFill>
                  <a:srgbClr val="0B6E69"/>
                </a:solidFill>
                <a:latin typeface="Calibri"/>
              </a:rPr>
              <a:t>Probe (7 ambulances), S2 vs S0</a:t>
            </a:r>
          </a:p>
          <a:p>
            <a:pPr algn="l">
              <a:spcAft>
                <a:spcPts val="1000"/>
              </a:spcAft>
            </a:pPr>
            <a:r>
              <a:rPr sz="1500" b="0" i="0">
                <a:solidFill>
                  <a:srgbClr val="1F2A33"/>
                </a:solidFill>
                <a:latin typeface="Calibri"/>
              </a:rPr>
              <a:t>HL -83.1 s, p 0.0010</a:t>
            </a:r>
          </a:p>
          <a:p>
            <a:pPr algn="l"/>
            <a:r>
              <a:rPr sz="1600" b="1" i="0">
                <a:solidFill>
                  <a:srgbClr val="0B6E69"/>
                </a:solidFill>
                <a:latin typeface="Calibri"/>
              </a:rPr>
              <a:t>Probe, S2 vs S2 without preemption</a:t>
            </a:r>
          </a:p>
          <a:p>
            <a:pPr algn="l">
              <a:spcAft>
                <a:spcPts val="1000"/>
              </a:spcAft>
            </a:pPr>
            <a:r>
              <a:rPr sz="1500" b="0" i="0">
                <a:solidFill>
                  <a:srgbClr val="1F2A33"/>
                </a:solidFill>
                <a:latin typeface="Calibri"/>
              </a:rPr>
              <a:t>HL -15.8 s, p 0.0010</a:t>
            </a:r>
          </a:p>
          <a:p>
            <a:pPr algn="l"/>
            <a:r>
              <a:rPr sz="1400" b="0" i="0">
                <a:solidFill>
                  <a:srgbClr val="5B6770"/>
                </a:solidFill>
                <a:latin typeface="Calibri"/>
              </a:rPr>
              <a:t>One ambulance per run gives the main test little power; the probe family attributes the gain to preemption.</a:t>
            </a:r>
          </a:p>
        </p:txBody>
      </p:sp>
      <p:sp>
        <p:nvSpPr>
          <p:cNvPr id="6"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7"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RL learns, but the interim spec 10.6 verdict is FALLBACK</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Part 7 dev-test seeds 3020-3029, looked at once; S2 stays the main solution</a:t>
            </a:r>
          </a:p>
        </p:txBody>
      </p:sp>
      <p:sp>
        <p:nvSpPr>
          <p:cNvPr id="4" name="crit-C1"/>
          <p:cNvSpPr/>
          <p:nvPr/>
        </p:nvSpPr>
        <p:spPr>
          <a:xfrm>
            <a:off x="548640" y="1737360"/>
            <a:ext cx="1703069" cy="214884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mp-C1"/>
          <p:cNvSpPr/>
          <p:nvPr/>
        </p:nvSpPr>
        <p:spPr>
          <a:xfrm>
            <a:off x="731520" y="1984248"/>
            <a:ext cx="219456" cy="219456"/>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rit-head-C1"/>
          <p:cNvSpPr txBox="1"/>
          <p:nvPr/>
        </p:nvSpPr>
        <p:spPr>
          <a:xfrm>
            <a:off x="1051560" y="1920240"/>
            <a:ext cx="1062989" cy="685800"/>
          </a:xfrm>
          <a:prstGeom prst="rect">
            <a:avLst/>
          </a:prstGeom>
          <a:noFill/>
        </p:spPr>
        <p:txBody>
          <a:bodyPr wrap="square" lIns="0" rIns="0" tIns="0" bIns="0" anchor="t">
            <a:spAutoFit/>
          </a:bodyPr>
          <a:lstStyle/>
          <a:p>
            <a:pPr algn="l"/>
            <a:r>
              <a:rPr sz="1400" b="1" i="0">
                <a:solidFill>
                  <a:srgbClr val="1F2A33"/>
                </a:solidFill>
                <a:latin typeface="Calibri"/>
              </a:rPr>
              <a:t>C1 · pass</a:t>
            </a:r>
          </a:p>
          <a:p>
            <a:pPr algn="l"/>
            <a:r>
              <a:rPr sz="1200" b="0" i="0">
                <a:solidFill>
                  <a:srgbClr val="1F2A33"/>
                </a:solidFill>
                <a:latin typeface="Calibri"/>
              </a:rPr>
              <a:t>Person delay vs S1</a:t>
            </a:r>
          </a:p>
        </p:txBody>
      </p:sp>
      <p:sp>
        <p:nvSpPr>
          <p:cNvPr id="7" name="crit-big-C1"/>
          <p:cNvSpPr txBox="1"/>
          <p:nvPr/>
        </p:nvSpPr>
        <p:spPr>
          <a:xfrm>
            <a:off x="731520" y="2743200"/>
            <a:ext cx="1337309" cy="640080"/>
          </a:xfrm>
          <a:prstGeom prst="rect">
            <a:avLst/>
          </a:prstGeom>
          <a:noFill/>
        </p:spPr>
        <p:txBody>
          <a:bodyPr wrap="square" lIns="0" rIns="0" tIns="0" bIns="0" anchor="t">
            <a:spAutoFit/>
          </a:bodyPr>
          <a:lstStyle/>
          <a:p>
            <a:pPr algn="l"/>
            <a:r>
              <a:rPr sz="2600" b="1" i="0">
                <a:solidFill>
                  <a:srgbClr val="1F2A33"/>
                </a:solidFill>
                <a:latin typeface="Calibri"/>
              </a:rPr>
              <a:t>-9.5 s</a:t>
            </a:r>
          </a:p>
        </p:txBody>
      </p:sp>
      <p:sp>
        <p:nvSpPr>
          <p:cNvPr id="8" name="crit-small-C1"/>
          <p:cNvSpPr txBox="1"/>
          <p:nvPr/>
        </p:nvSpPr>
        <p:spPr>
          <a:xfrm>
            <a:off x="731520" y="3383280"/>
            <a:ext cx="1337309" cy="411480"/>
          </a:xfrm>
          <a:prstGeom prst="rect">
            <a:avLst/>
          </a:prstGeom>
          <a:noFill/>
        </p:spPr>
        <p:txBody>
          <a:bodyPr wrap="square" lIns="0" rIns="0" tIns="0" bIns="0" anchor="t">
            <a:spAutoFit/>
          </a:bodyPr>
          <a:lstStyle/>
          <a:p>
            <a:pPr algn="l"/>
            <a:r>
              <a:rPr sz="1200" b="0" i="0">
                <a:solidFill>
                  <a:srgbClr val="5B6770"/>
                </a:solidFill>
                <a:latin typeface="Calibri"/>
              </a:rPr>
              <a:t>HL, p 0.0020</a:t>
            </a:r>
          </a:p>
        </p:txBody>
      </p:sp>
      <p:sp>
        <p:nvSpPr>
          <p:cNvPr id="9" name="crit-C2"/>
          <p:cNvSpPr/>
          <p:nvPr/>
        </p:nvSpPr>
        <p:spPr>
          <a:xfrm>
            <a:off x="2480309" y="1737360"/>
            <a:ext cx="1703069" cy="214884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mp-C2"/>
          <p:cNvSpPr/>
          <p:nvPr/>
        </p:nvSpPr>
        <p:spPr>
          <a:xfrm>
            <a:off x="2663189" y="1984248"/>
            <a:ext cx="219456" cy="219456"/>
          </a:xfrm>
          <a:prstGeom prst="ellipse">
            <a:avLst/>
          </a:prstGeom>
          <a:solidFill>
            <a:srgbClr val="C63D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rit-head-C2"/>
          <p:cNvSpPr txBox="1"/>
          <p:nvPr/>
        </p:nvSpPr>
        <p:spPr>
          <a:xfrm>
            <a:off x="2983229" y="1920240"/>
            <a:ext cx="1062989" cy="685800"/>
          </a:xfrm>
          <a:prstGeom prst="rect">
            <a:avLst/>
          </a:prstGeom>
          <a:noFill/>
        </p:spPr>
        <p:txBody>
          <a:bodyPr wrap="square" lIns="0" rIns="0" tIns="0" bIns="0" anchor="t">
            <a:spAutoFit/>
          </a:bodyPr>
          <a:lstStyle/>
          <a:p>
            <a:pPr algn="l"/>
            <a:r>
              <a:rPr sz="1400" b="1" i="0">
                <a:solidFill>
                  <a:srgbClr val="1F2A33"/>
                </a:solidFill>
                <a:latin typeface="Calibri"/>
              </a:rPr>
              <a:t>C2 · fail</a:t>
            </a:r>
          </a:p>
          <a:p>
            <a:pPr algn="l"/>
            <a:r>
              <a:rPr sz="1200" b="0" i="0">
                <a:solidFill>
                  <a:srgbClr val="1F2A33"/>
                </a:solidFill>
                <a:latin typeface="Calibri"/>
              </a:rPr>
              <a:t>Equity vs S1 (≤ 5 %)</a:t>
            </a:r>
          </a:p>
        </p:txBody>
      </p:sp>
      <p:sp>
        <p:nvSpPr>
          <p:cNvPr id="12" name="crit-big-C2"/>
          <p:cNvSpPr txBox="1"/>
          <p:nvPr/>
        </p:nvSpPr>
        <p:spPr>
          <a:xfrm>
            <a:off x="2663189" y="2743200"/>
            <a:ext cx="1337309" cy="640080"/>
          </a:xfrm>
          <a:prstGeom prst="rect">
            <a:avLst/>
          </a:prstGeom>
          <a:noFill/>
        </p:spPr>
        <p:txBody>
          <a:bodyPr wrap="square" lIns="0" rIns="0" tIns="0" bIns="0" anchor="t">
            <a:spAutoFit/>
          </a:bodyPr>
          <a:lstStyle/>
          <a:p>
            <a:pPr algn="l"/>
            <a:r>
              <a:rPr sz="2600" b="1" i="0">
                <a:solidFill>
                  <a:srgbClr val="1F2A33"/>
                </a:solidFill>
                <a:latin typeface="Calibri"/>
              </a:rPr>
              <a:t>+6.2 %</a:t>
            </a:r>
          </a:p>
        </p:txBody>
      </p:sp>
      <p:sp>
        <p:nvSpPr>
          <p:cNvPr id="13" name="crit-small-C2"/>
          <p:cNvSpPr txBox="1"/>
          <p:nvPr/>
        </p:nvSpPr>
        <p:spPr>
          <a:xfrm>
            <a:off x="2663189" y="3383280"/>
            <a:ext cx="1337309" cy="411480"/>
          </a:xfrm>
          <a:prstGeom prst="rect">
            <a:avLst/>
          </a:prstGeom>
          <a:noFill/>
        </p:spPr>
        <p:txBody>
          <a:bodyPr wrap="square" lIns="0" rIns="0" tIns="0" bIns="0" anchor="t">
            <a:spAutoFit/>
          </a:bodyPr>
          <a:lstStyle/>
          <a:p>
            <a:pPr algn="l"/>
            <a:r>
              <a:rPr sz="1200" b="0" i="0">
                <a:solidFill>
                  <a:srgbClr val="5B6770"/>
                </a:solidFill>
                <a:latin typeface="Calibri"/>
              </a:rPr>
              <a:t>pedestrian curb wait</a:t>
            </a:r>
          </a:p>
        </p:txBody>
      </p:sp>
      <p:sp>
        <p:nvSpPr>
          <p:cNvPr id="14" name="crit-C3"/>
          <p:cNvSpPr/>
          <p:nvPr/>
        </p:nvSpPr>
        <p:spPr>
          <a:xfrm>
            <a:off x="4411978" y="1737360"/>
            <a:ext cx="1703069" cy="214884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amp-C3"/>
          <p:cNvSpPr/>
          <p:nvPr/>
        </p:nvSpPr>
        <p:spPr>
          <a:xfrm>
            <a:off x="4594858" y="1984248"/>
            <a:ext cx="219456" cy="219456"/>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rit-head-C3"/>
          <p:cNvSpPr txBox="1"/>
          <p:nvPr/>
        </p:nvSpPr>
        <p:spPr>
          <a:xfrm>
            <a:off x="4914898" y="1920240"/>
            <a:ext cx="1062989" cy="685800"/>
          </a:xfrm>
          <a:prstGeom prst="rect">
            <a:avLst/>
          </a:prstGeom>
          <a:noFill/>
        </p:spPr>
        <p:txBody>
          <a:bodyPr wrap="square" lIns="0" rIns="0" tIns="0" bIns="0" anchor="t">
            <a:spAutoFit/>
          </a:bodyPr>
          <a:lstStyle/>
          <a:p>
            <a:pPr algn="l"/>
            <a:r>
              <a:rPr sz="1400" b="1" i="0">
                <a:solidFill>
                  <a:srgbClr val="1F2A33"/>
                </a:solidFill>
                <a:latin typeface="Calibri"/>
              </a:rPr>
              <a:t>C3 · pass</a:t>
            </a:r>
          </a:p>
          <a:p>
            <a:pPr algn="l"/>
            <a:r>
              <a:rPr sz="1200" b="0" i="0">
                <a:solidFill>
                  <a:srgbClr val="1F2A33"/>
                </a:solidFill>
                <a:latin typeface="Calibri"/>
              </a:rPr>
              <a:t>Safety</a:t>
            </a:r>
          </a:p>
        </p:txBody>
      </p:sp>
      <p:sp>
        <p:nvSpPr>
          <p:cNvPr id="17" name="crit-big-C3"/>
          <p:cNvSpPr txBox="1"/>
          <p:nvPr/>
        </p:nvSpPr>
        <p:spPr>
          <a:xfrm>
            <a:off x="4594858" y="2743200"/>
            <a:ext cx="1337309" cy="640080"/>
          </a:xfrm>
          <a:prstGeom prst="rect">
            <a:avLst/>
          </a:prstGeom>
          <a:noFill/>
        </p:spPr>
        <p:txBody>
          <a:bodyPr wrap="square" lIns="0" rIns="0" tIns="0" bIns="0" anchor="t">
            <a:spAutoFit/>
          </a:bodyPr>
          <a:lstStyle/>
          <a:p>
            <a:pPr algn="l"/>
            <a:r>
              <a:rPr sz="2600" b="1" i="0">
                <a:solidFill>
                  <a:srgbClr val="1F2A33"/>
                </a:solidFill>
                <a:latin typeface="Calibri"/>
              </a:rPr>
              <a:t>0</a:t>
            </a:r>
          </a:p>
        </p:txBody>
      </p:sp>
      <p:sp>
        <p:nvSpPr>
          <p:cNvPr id="18" name="crit-small-C3"/>
          <p:cNvSpPr txBox="1"/>
          <p:nvPr/>
        </p:nvSpPr>
        <p:spPr>
          <a:xfrm>
            <a:off x="4594858" y="3383280"/>
            <a:ext cx="1337309" cy="411480"/>
          </a:xfrm>
          <a:prstGeom prst="rect">
            <a:avLst/>
          </a:prstGeom>
          <a:noFill/>
        </p:spPr>
        <p:txBody>
          <a:bodyPr wrap="square" lIns="0" rIns="0" tIns="0" bIns="0" anchor="t">
            <a:spAutoFit/>
          </a:bodyPr>
          <a:lstStyle/>
          <a:p>
            <a:pPr algn="l"/>
            <a:r>
              <a:rPr sz="1200" b="0" i="0">
                <a:solidFill>
                  <a:srgbClr val="5B6770"/>
                </a:solidFill>
                <a:latin typeface="Calibri"/>
              </a:rPr>
              <a:t>violations</a:t>
            </a:r>
          </a:p>
        </p:txBody>
      </p:sp>
      <p:sp>
        <p:nvSpPr>
          <p:cNvPr id="19" name="crit-C4"/>
          <p:cNvSpPr/>
          <p:nvPr/>
        </p:nvSpPr>
        <p:spPr>
          <a:xfrm>
            <a:off x="6343647" y="1737360"/>
            <a:ext cx="1703069" cy="214884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amp-C4"/>
          <p:cNvSpPr/>
          <p:nvPr/>
        </p:nvSpPr>
        <p:spPr>
          <a:xfrm>
            <a:off x="6526527" y="1984248"/>
            <a:ext cx="219456" cy="219456"/>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rit-head-C4"/>
          <p:cNvSpPr txBox="1"/>
          <p:nvPr/>
        </p:nvSpPr>
        <p:spPr>
          <a:xfrm>
            <a:off x="6846567" y="1920240"/>
            <a:ext cx="1062989" cy="685800"/>
          </a:xfrm>
          <a:prstGeom prst="rect">
            <a:avLst/>
          </a:prstGeom>
          <a:noFill/>
        </p:spPr>
        <p:txBody>
          <a:bodyPr wrap="square" lIns="0" rIns="0" tIns="0" bIns="0" anchor="t">
            <a:spAutoFit/>
          </a:bodyPr>
          <a:lstStyle/>
          <a:p>
            <a:pPr algn="l"/>
            <a:r>
              <a:rPr sz="1400" b="1" i="0">
                <a:solidFill>
                  <a:srgbClr val="1F2A33"/>
                </a:solidFill>
                <a:latin typeface="Calibri"/>
              </a:rPr>
              <a:t>C4 · pass</a:t>
            </a:r>
          </a:p>
          <a:p>
            <a:pPr algn="l"/>
            <a:r>
              <a:rPr sz="1200" b="0" i="0">
                <a:solidFill>
                  <a:srgbClr val="1F2A33"/>
                </a:solidFill>
                <a:latin typeface="Calibri"/>
              </a:rPr>
              <a:t>Reproducibility</a:t>
            </a:r>
          </a:p>
        </p:txBody>
      </p:sp>
      <p:sp>
        <p:nvSpPr>
          <p:cNvPr id="22" name="crit-big-C4"/>
          <p:cNvSpPr txBox="1"/>
          <p:nvPr/>
        </p:nvSpPr>
        <p:spPr>
          <a:xfrm>
            <a:off x="6526527" y="2743200"/>
            <a:ext cx="1337309" cy="640080"/>
          </a:xfrm>
          <a:prstGeom prst="rect">
            <a:avLst/>
          </a:prstGeom>
          <a:noFill/>
        </p:spPr>
        <p:txBody>
          <a:bodyPr wrap="square" lIns="0" rIns="0" tIns="0" bIns="0" anchor="t">
            <a:spAutoFit/>
          </a:bodyPr>
          <a:lstStyle/>
          <a:p>
            <a:pPr algn="l"/>
            <a:r>
              <a:rPr sz="2600" b="1" i="0">
                <a:solidFill>
                  <a:srgbClr val="1F2A33"/>
                </a:solidFill>
                <a:latin typeface="Calibri"/>
              </a:rPr>
              <a:t>5 of 5</a:t>
            </a:r>
          </a:p>
        </p:txBody>
      </p:sp>
      <p:sp>
        <p:nvSpPr>
          <p:cNvPr id="23" name="crit-small-C4"/>
          <p:cNvSpPr txBox="1"/>
          <p:nvPr/>
        </p:nvSpPr>
        <p:spPr>
          <a:xfrm>
            <a:off x="6526527" y="3383280"/>
            <a:ext cx="1337309" cy="411480"/>
          </a:xfrm>
          <a:prstGeom prst="rect">
            <a:avLst/>
          </a:prstGeom>
          <a:noFill/>
        </p:spPr>
        <p:txBody>
          <a:bodyPr wrap="square" lIns="0" rIns="0" tIns="0" bIns="0" anchor="t">
            <a:spAutoFit/>
          </a:bodyPr>
          <a:lstStyle/>
          <a:p>
            <a:pPr algn="l"/>
            <a:r>
              <a:rPr sz="1200" b="0" i="0">
                <a:solidFill>
                  <a:srgbClr val="5B6770"/>
                </a:solidFill>
                <a:latin typeface="Calibri"/>
              </a:rPr>
              <a:t>picks below S1</a:t>
            </a:r>
          </a:p>
        </p:txBody>
      </p:sp>
      <p:sp>
        <p:nvSpPr>
          <p:cNvPr id="24" name="a06-rows"/>
          <p:cNvSpPr txBox="1"/>
          <p:nvPr/>
        </p:nvSpPr>
        <p:spPr>
          <a:xfrm>
            <a:off x="548640" y="4160520"/>
            <a:ext cx="7498079" cy="2011680"/>
          </a:xfrm>
          <a:prstGeom prst="rect">
            <a:avLst/>
          </a:prstGeom>
          <a:noFill/>
        </p:spPr>
        <p:txBody>
          <a:bodyPr wrap="square" lIns="0" rIns="0" tIns="0" bIns="0" anchor="t">
            <a:spAutoFit/>
          </a:bodyPr>
          <a:lstStyle/>
          <a:p>
            <a:pPr algn="l">
              <a:spcAft>
                <a:spcPts val="400"/>
              </a:spcAft>
            </a:pPr>
            <a:r>
              <a:rPr sz="1500" b="1" i="0">
                <a:solidFill>
                  <a:srgbClr val="1F2A33"/>
                </a:solidFill>
                <a:latin typeface="Calibri"/>
              </a:rPr>
              <a:t>A-06 on seeds 1-10, S3 − reference, person-weighted delay</a:t>
            </a:r>
          </a:p>
          <a:p>
            <a:pPr algn="l"/>
            <a:r>
              <a:rPr sz="1500" b="1" i="0">
                <a:solidFill>
                  <a:srgbClr val="1F2A33"/>
                </a:solidFill>
                <a:latin typeface="Calibri"/>
              </a:rPr>
              <a:t>vs S1 actuated (primary): </a:t>
            </a:r>
            <a:r>
              <a:rPr sz="1500" b="0" i="0">
                <a:solidFill>
                  <a:srgbClr val="1F2A33"/>
                </a:solidFill>
                <a:latin typeface="Calibri"/>
              </a:rPr>
              <a:t>HL -9.5 s, 95 % CI [-17.5, -6.4] s, Holm p 0.0059: S3 better</a:t>
            </a:r>
          </a:p>
          <a:p>
            <a:pPr algn="l"/>
            <a:r>
              <a:rPr sz="1500" b="1" i="0">
                <a:solidFill>
                  <a:srgbClr val="1F2A33"/>
                </a:solidFill>
                <a:latin typeface="Calibri"/>
              </a:rPr>
              <a:t>vs S2 rules: </a:t>
            </a:r>
            <a:r>
              <a:rPr sz="1500" b="0" i="0">
                <a:solidFill>
                  <a:srgbClr val="1F2A33"/>
                </a:solidFill>
                <a:latin typeface="Calibri"/>
              </a:rPr>
              <a:t>HL -2.5 s, 95 % CI [-5.0, -0.6] s, Holm p 0.0137: S3 better</a:t>
            </a:r>
          </a:p>
          <a:p>
            <a:pPr algn="l"/>
            <a:r>
              <a:rPr sz="1500" b="1" i="0">
                <a:solidFill>
                  <a:srgbClr val="1F2A33"/>
                </a:solidFill>
                <a:latin typeface="Calibri"/>
              </a:rPr>
              <a:t>vs S0 fixed: </a:t>
            </a:r>
            <a:r>
              <a:rPr sz="1500" b="0" i="0">
                <a:solidFill>
                  <a:srgbClr val="1F2A33"/>
                </a:solidFill>
                <a:latin typeface="Calibri"/>
              </a:rPr>
              <a:t>HL -14.3 s, 95 % CI [-29.4, -10.7] s, Holm p 0.0059: S3 better</a:t>
            </a:r>
          </a:p>
        </p:txBody>
      </p:sp>
      <p:sp>
        <p:nvSpPr>
          <p:cNvPr id="25" name="a06-card"/>
          <p:cNvSpPr/>
          <p:nvPr/>
        </p:nvSpPr>
        <p:spPr>
          <a:xfrm>
            <a:off x="8366760" y="1737360"/>
            <a:ext cx="3276295" cy="2377440"/>
          </a:xfrm>
          <a:prstGeom prst="roundRect">
            <a:avLst>
              <a:gd name="adj" fmla="val 6000"/>
            </a:avLst>
          </a:prstGeom>
          <a:solidFill>
            <a:srgbClr val="17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06-text"/>
          <p:cNvSpPr txBox="1"/>
          <p:nvPr/>
        </p:nvSpPr>
        <p:spPr>
          <a:xfrm>
            <a:off x="8641080" y="1920240"/>
            <a:ext cx="2727655" cy="2103120"/>
          </a:xfrm>
          <a:prstGeom prst="rect">
            <a:avLst/>
          </a:prstGeom>
          <a:noFill/>
        </p:spPr>
        <p:txBody>
          <a:bodyPr wrap="square" lIns="0" rIns="0" tIns="0" bIns="0" anchor="t">
            <a:spAutoFit/>
          </a:bodyPr>
          <a:lstStyle/>
          <a:p>
            <a:pPr algn="l"/>
            <a:r>
              <a:rPr sz="1700" b="1" i="0">
                <a:solidFill>
                  <a:srgbClr val="FFFFFF"/>
                </a:solidFill>
                <a:latin typeface="Calibri"/>
              </a:rPr>
              <a:t>A-06 on seeds 1-10: PASS</a:t>
            </a:r>
          </a:p>
          <a:p>
            <a:pPr algn="l">
              <a:spcAft>
                <a:spcPts val="600"/>
              </a:spcAft>
            </a:pPr>
            <a:r>
              <a:rPr sz="1400" b="0" i="0">
                <a:solidFill>
                  <a:srgbClr val="5FB8B0"/>
                </a:solidFill>
                <a:latin typeface="Calibri"/>
              </a:rPr>
              <a:t>S3 vs S1 (actuated): all/person_delay_mean 57.1 → 46.0 s (n = 10), HL -9.5 s [95 % CI -17.5, -6.4], exact two-sided p 0.0020, Holm p 0.0059 (α 0.05): S3 better</a:t>
            </a:r>
          </a:p>
          <a:p>
            <a:pPr algn="l"/>
            <a:r>
              <a:rPr sz="1400" b="0" i="0">
                <a:solidFill>
                  <a:srgbClr val="FFFFFF"/>
                </a:solidFill>
                <a:latin typeface="Calibri"/>
              </a:rPr>
              <a:t>Spec 10.6 check: seeds 1-10 confirm the interim verdict.</a:t>
            </a:r>
          </a:p>
        </p:txBody>
      </p:sp>
      <p:sp>
        <p:nvSpPr>
          <p:cNvPr id="27" name="why"/>
          <p:cNvSpPr txBox="1"/>
          <p:nvPr/>
        </p:nvSpPr>
        <p:spPr>
          <a:xfrm>
            <a:off x="8366760" y="4343400"/>
            <a:ext cx="3276295" cy="1828800"/>
          </a:xfrm>
          <a:prstGeom prst="rect">
            <a:avLst/>
          </a:prstGeom>
          <a:noFill/>
        </p:spPr>
        <p:txBody>
          <a:bodyPr wrap="square" lIns="0" rIns="0" tIns="0" bIns="0" anchor="t">
            <a:spAutoFit/>
          </a:bodyPr>
          <a:lstStyle/>
          <a:p>
            <a:pPr algn="l">
              <a:spcAft>
                <a:spcPts val="400"/>
              </a:spcAft>
            </a:pPr>
            <a:r>
              <a:rPr sz="1700" b="1" i="0">
                <a:solidFill>
                  <a:srgbClr val="1F2A33"/>
                </a:solidFill>
                <a:latin typeface="Calibri"/>
              </a:rPr>
              <a:t>Why the fallback</a:t>
            </a:r>
          </a:p>
          <a:p>
            <a:pPr algn="l"/>
            <a:r>
              <a:rPr sz="1400" b="0" i="0">
                <a:solidFill>
                  <a:srgbClr val="1F2A33"/>
                </a:solidFill>
                <a:latin typeface="Calibri"/>
              </a:rPr>
              <a:t>S3 does not observe pedestrians; the shield alone keeps the bound, so curb waits drift up while cars and buses gain.</a:t>
            </a:r>
          </a:p>
        </p:txBody>
      </p:sp>
      <p:sp>
        <p:nvSpPr>
          <p:cNvPr id="28"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29"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An honest travel time: the 80 % interval covers 80.6 %</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A-07 PASS: target band 75-85 %, realistic test worlds generated after the model was frozen</a:t>
            </a:r>
          </a:p>
        </p:txBody>
      </p:sp>
      <p:sp>
        <p:nvSpPr>
          <p:cNvPr id="4" name="eta-card"/>
          <p:cNvSpPr/>
          <p:nvPr/>
        </p:nvSpPr>
        <p:spPr>
          <a:xfrm>
            <a:off x="548640" y="1783080"/>
            <a:ext cx="3657600" cy="4389120"/>
          </a:xfrm>
          <a:prstGeom prst="roundRect">
            <a:avLst>
              <a:gd name="adj" fmla="val 6000"/>
            </a:avLst>
          </a:prstGeom>
          <a:solidFill>
            <a:srgbClr val="EE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ta-stats"/>
          <p:cNvSpPr txBox="1"/>
          <p:nvPr/>
        </p:nvSpPr>
        <p:spPr>
          <a:xfrm>
            <a:off x="822960" y="2011680"/>
            <a:ext cx="3108960" cy="4023360"/>
          </a:xfrm>
          <a:prstGeom prst="rect">
            <a:avLst/>
          </a:prstGeom>
          <a:noFill/>
        </p:spPr>
        <p:txBody>
          <a:bodyPr wrap="square" lIns="0" rIns="0" tIns="0" bIns="0" anchor="t">
            <a:spAutoFit/>
          </a:bodyPr>
          <a:lstStyle/>
          <a:p>
            <a:pPr algn="l"/>
            <a:r>
              <a:rPr sz="1600" b="1" i="0">
                <a:solidFill>
                  <a:srgbClr val="0B6E69"/>
                </a:solidFill>
                <a:latin typeface="Calibri"/>
              </a:rPr>
              <a:t>Coverage</a:t>
            </a:r>
          </a:p>
          <a:p>
            <a:pPr algn="l">
              <a:spcAft>
                <a:spcPts val="1000"/>
              </a:spcAft>
            </a:pPr>
            <a:r>
              <a:rPr sz="2200" b="1" i="0">
                <a:solidFill>
                  <a:srgbClr val="1F2A33"/>
                </a:solidFill>
                <a:latin typeface="Calibri"/>
              </a:rPr>
              <a:t>80.6 % [80.2 %, 81.0 %]</a:t>
            </a:r>
          </a:p>
          <a:p>
            <a:pPr algn="l"/>
            <a:r>
              <a:rPr sz="1600" b="1" i="0">
                <a:solidFill>
                  <a:srgbClr val="0B6E69"/>
                </a:solidFill>
                <a:latin typeface="Calibri"/>
              </a:rPr>
              <a:t>Median error (MAE)</a:t>
            </a:r>
          </a:p>
          <a:p>
            <a:pPr algn="l">
              <a:spcAft>
                <a:spcPts val="1000"/>
              </a:spcAft>
            </a:pPr>
            <a:r>
              <a:rPr sz="1800" b="1" i="0">
                <a:solidFill>
                  <a:srgbClr val="1F2A33"/>
                </a:solidFill>
                <a:latin typeface="Calibri"/>
              </a:rPr>
              <a:t>10.2 s vs 39.6 s for the reference table</a:t>
            </a:r>
          </a:p>
          <a:p>
            <a:pPr algn="l"/>
            <a:r>
              <a:rPr sz="1600" b="1" i="0">
                <a:solidFill>
                  <a:srgbClr val="0B6E69"/>
                </a:solidFill>
                <a:latin typeface="Calibri"/>
              </a:rPr>
              <a:t>Trips</a:t>
            </a:r>
          </a:p>
          <a:p>
            <a:pPr algn="l"/>
            <a:r>
              <a:rPr sz="1600" b="0" i="0">
                <a:solidFill>
                  <a:srgbClr val="1F2A33"/>
                </a:solidFill>
                <a:latin typeface="Calibri"/>
              </a:rPr>
              <a:t>483,100 trips in 72 test worlds</a:t>
            </a:r>
          </a:p>
        </p:txBody>
      </p:sp>
      <p:pic>
        <p:nvPicPr>
          <p:cNvPr id="6" name="fig-eta-coverage" descr="coverage_by_group.png"/>
          <p:cNvPicPr>
            <a:picLocks noChangeAspect="1"/>
          </p:cNvPicPr>
          <p:nvPr/>
        </p:nvPicPr>
        <p:blipFill>
          <a:blip r:embed="rId2"/>
          <a:stretch>
            <a:fillRect/>
          </a:stretch>
        </p:blipFill>
        <p:spPr>
          <a:xfrm>
            <a:off x="4480560" y="1783080"/>
            <a:ext cx="7162495" cy="2755669"/>
          </a:xfrm>
          <a:prstGeom prst="rect">
            <a:avLst/>
          </a:prstGeom>
        </p:spPr>
      </p:pic>
      <p:sp>
        <p:nvSpPr>
          <p:cNvPr id="7"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8"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One API, two front ends, every state handled</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B6770"/>
                </a:solidFill>
                <a:latin typeface="Calibri"/>
              </a:rPr>
              <a:t>User app (five profiles and replay) and the Streamlit operator view, both through the API</a:t>
            </a:r>
          </a:p>
        </p:txBody>
      </p:sp>
      <p:pic>
        <p:nvPicPr>
          <p:cNvPr id="4" name="shot-home" descr="home.png"/>
          <p:cNvPicPr>
            <a:picLocks noChangeAspect="1"/>
          </p:cNvPicPr>
          <p:nvPr/>
        </p:nvPicPr>
        <p:blipFill>
          <a:blip r:embed="rId2"/>
          <a:stretch>
            <a:fillRect/>
          </a:stretch>
        </p:blipFill>
        <p:spPr>
          <a:xfrm>
            <a:off x="548640" y="1691640"/>
            <a:ext cx="2926080" cy="1828800"/>
          </a:xfrm>
          <a:prstGeom prst="rect">
            <a:avLst/>
          </a:prstGeom>
        </p:spPr>
      </p:pic>
      <p:sp>
        <p:nvSpPr>
          <p:cNvPr id="5" name="shot-label-home"/>
          <p:cNvSpPr txBox="1"/>
          <p:nvPr/>
        </p:nvSpPr>
        <p:spPr>
          <a:xfrm>
            <a:off x="548640" y="3538728"/>
            <a:ext cx="3726180" cy="256032"/>
          </a:xfrm>
          <a:prstGeom prst="rect">
            <a:avLst/>
          </a:prstGeom>
          <a:noFill/>
        </p:spPr>
        <p:txBody>
          <a:bodyPr wrap="square" lIns="0" rIns="0" tIns="0" bIns="0" anchor="t">
            <a:spAutoFit/>
          </a:bodyPr>
          <a:lstStyle/>
          <a:p>
            <a:pPr algn="l"/>
            <a:r>
              <a:rPr sz="1200" b="0" i="0">
                <a:solidFill>
                  <a:srgbClr val="5B6770"/>
                </a:solidFill>
                <a:latin typeface="Calibri"/>
              </a:rPr>
              <a:t>Home: five profiles</a:t>
            </a:r>
          </a:p>
        </p:txBody>
      </p:sp>
      <p:pic>
        <p:nvPicPr>
          <p:cNvPr id="6" name="shot-pedestrian" descr="pedestrian.png"/>
          <p:cNvPicPr>
            <a:picLocks noChangeAspect="1"/>
          </p:cNvPicPr>
          <p:nvPr/>
        </p:nvPicPr>
        <p:blipFill>
          <a:blip r:embed="rId3"/>
          <a:stretch>
            <a:fillRect/>
          </a:stretch>
        </p:blipFill>
        <p:spPr>
          <a:xfrm>
            <a:off x="4503420" y="1691640"/>
            <a:ext cx="2926080" cy="1828800"/>
          </a:xfrm>
          <a:prstGeom prst="rect">
            <a:avLst/>
          </a:prstGeom>
        </p:spPr>
      </p:pic>
      <p:sp>
        <p:nvSpPr>
          <p:cNvPr id="7" name="shot-label-pedestrian"/>
          <p:cNvSpPr txBox="1"/>
          <p:nvPr/>
        </p:nvSpPr>
        <p:spPr>
          <a:xfrm>
            <a:off x="4503420" y="3538728"/>
            <a:ext cx="3726180" cy="256032"/>
          </a:xfrm>
          <a:prstGeom prst="rect">
            <a:avLst/>
          </a:prstGeom>
          <a:noFill/>
        </p:spPr>
        <p:txBody>
          <a:bodyPr wrap="square" lIns="0" rIns="0" tIns="0" bIns="0" anchor="t">
            <a:spAutoFit/>
          </a:bodyPr>
          <a:lstStyle/>
          <a:p>
            <a:pPr algn="l"/>
            <a:r>
              <a:rPr sz="1200" b="0" i="0">
                <a:solidFill>
                  <a:srgbClr val="5B6770"/>
                </a:solidFill>
                <a:latin typeface="Calibri"/>
              </a:rPr>
              <a:t>Pedestrian</a:t>
            </a:r>
          </a:p>
        </p:txBody>
      </p:sp>
      <p:pic>
        <p:nvPicPr>
          <p:cNvPr id="8" name="shot-ambulance" descr="ambulance.png"/>
          <p:cNvPicPr>
            <a:picLocks noChangeAspect="1"/>
          </p:cNvPicPr>
          <p:nvPr/>
        </p:nvPicPr>
        <p:blipFill>
          <a:blip r:embed="rId4"/>
          <a:stretch>
            <a:fillRect/>
          </a:stretch>
        </p:blipFill>
        <p:spPr>
          <a:xfrm>
            <a:off x="548640" y="3931920"/>
            <a:ext cx="2926080" cy="1828800"/>
          </a:xfrm>
          <a:prstGeom prst="rect">
            <a:avLst/>
          </a:prstGeom>
        </p:spPr>
      </p:pic>
      <p:sp>
        <p:nvSpPr>
          <p:cNvPr id="9" name="shot-label-ambulance"/>
          <p:cNvSpPr txBox="1"/>
          <p:nvPr/>
        </p:nvSpPr>
        <p:spPr>
          <a:xfrm>
            <a:off x="548640" y="5779008"/>
            <a:ext cx="3726180" cy="256032"/>
          </a:xfrm>
          <a:prstGeom prst="rect">
            <a:avLst/>
          </a:prstGeom>
          <a:noFill/>
        </p:spPr>
        <p:txBody>
          <a:bodyPr wrap="square" lIns="0" rIns="0" tIns="0" bIns="0" anchor="t">
            <a:spAutoFit/>
          </a:bodyPr>
          <a:lstStyle/>
          <a:p>
            <a:pPr algn="l"/>
            <a:r>
              <a:rPr sz="1200" b="0" i="0">
                <a:solidFill>
                  <a:srgbClr val="5B6770"/>
                </a:solidFill>
                <a:latin typeface="Calibri"/>
              </a:rPr>
              <a:t>Ambulance (kiosk)</a:t>
            </a:r>
          </a:p>
        </p:txBody>
      </p:sp>
      <p:pic>
        <p:nvPicPr>
          <p:cNvPr id="10" name="shot-replay" descr="replay.png"/>
          <p:cNvPicPr>
            <a:picLocks noChangeAspect="1"/>
          </p:cNvPicPr>
          <p:nvPr/>
        </p:nvPicPr>
        <p:blipFill>
          <a:blip r:embed="rId5"/>
          <a:stretch>
            <a:fillRect/>
          </a:stretch>
        </p:blipFill>
        <p:spPr>
          <a:xfrm>
            <a:off x="4503420" y="3931920"/>
            <a:ext cx="2926080" cy="1828800"/>
          </a:xfrm>
          <a:prstGeom prst="rect">
            <a:avLst/>
          </a:prstGeom>
        </p:spPr>
      </p:pic>
      <p:sp>
        <p:nvSpPr>
          <p:cNvPr id="11" name="shot-label-replay"/>
          <p:cNvSpPr txBox="1"/>
          <p:nvPr/>
        </p:nvSpPr>
        <p:spPr>
          <a:xfrm>
            <a:off x="4503420" y="5779008"/>
            <a:ext cx="3726180" cy="256032"/>
          </a:xfrm>
          <a:prstGeom prst="rect">
            <a:avLst/>
          </a:prstGeom>
          <a:noFill/>
        </p:spPr>
        <p:txBody>
          <a:bodyPr wrap="square" lIns="0" rIns="0" tIns="0" bIns="0" anchor="t">
            <a:spAutoFit/>
          </a:bodyPr>
          <a:lstStyle/>
          <a:p>
            <a:pPr algn="l"/>
            <a:r>
              <a:rPr sz="1200" b="0" i="0">
                <a:solidFill>
                  <a:srgbClr val="5B6770"/>
                </a:solidFill>
                <a:latin typeface="Calibri"/>
              </a:rPr>
              <a:t>Replay</a:t>
            </a:r>
          </a:p>
        </p:txBody>
      </p:sp>
      <p:sp>
        <p:nvSpPr>
          <p:cNvPr id="12" name="states"/>
          <p:cNvSpPr txBox="1"/>
          <p:nvPr/>
        </p:nvSpPr>
        <p:spPr>
          <a:xfrm>
            <a:off x="8549640" y="1783080"/>
            <a:ext cx="3093415" cy="4389120"/>
          </a:xfrm>
          <a:prstGeom prst="rect">
            <a:avLst/>
          </a:prstGeom>
          <a:noFill/>
        </p:spPr>
        <p:txBody>
          <a:bodyPr wrap="square" lIns="0" rIns="0" tIns="0" bIns="0" anchor="t">
            <a:spAutoFit/>
          </a:bodyPr>
          <a:lstStyle/>
          <a:p>
            <a:pPr algn="l"/>
            <a:r>
              <a:rPr sz="1600" b="1" i="0">
                <a:solidFill>
                  <a:srgbClr val="0B6E69"/>
                </a:solidFill>
                <a:latin typeface="Calibri"/>
              </a:rPr>
              <a:t>States (spec 12.1)</a:t>
            </a:r>
          </a:p>
          <a:p>
            <a:pPr algn="l">
              <a:spcAft>
                <a:spcPts val="800"/>
              </a:spcAft>
            </a:pPr>
            <a:r>
              <a:rPr sz="1500" b="0" i="0">
                <a:solidFill>
                  <a:srgbClr val="1F2A33"/>
                </a:solidFill>
                <a:latin typeface="Calibri"/>
              </a:rPr>
              <a:t>loading · ok · degraded · stale · unavailable · error</a:t>
            </a:r>
          </a:p>
          <a:p>
            <a:pPr algn="l"/>
            <a:r>
              <a:rPr sz="1600" b="1" i="0">
                <a:solidFill>
                  <a:srgbClr val="0B6E69"/>
                </a:solidFill>
                <a:latin typeface="Calibri"/>
              </a:rPr>
              <a:t>Honesty</a:t>
            </a:r>
          </a:p>
          <a:p>
            <a:pPr algn="l">
              <a:spcAft>
                <a:spcPts val="800"/>
              </a:spcAft>
            </a:pPr>
            <a:r>
              <a:rPr sz="1500" b="0" i="0">
                <a:solidFill>
                  <a:srgbClr val="1F2A33"/>
                </a:solidFill>
                <a:latin typeface="Calibri"/>
              </a:rPr>
              <a:t>'données simulées' with the calibration date in every view</a:t>
            </a:r>
          </a:p>
          <a:p>
            <a:pPr algn="l"/>
            <a:r>
              <a:rPr sz="1600" b="1" i="0">
                <a:solidFill>
                  <a:srgbClr val="0B6E69"/>
                </a:solidFill>
                <a:latin typeface="Calibri"/>
              </a:rPr>
              <a:t>At most 2 clicks</a:t>
            </a:r>
          </a:p>
          <a:p>
            <a:pPr algn="l">
              <a:spcAft>
                <a:spcPts val="800"/>
              </a:spcAft>
            </a:pPr>
            <a:r>
              <a:rPr sz="1500" b="0" i="0">
                <a:solidFill>
                  <a:srgbClr val="1F2A33"/>
                </a:solidFill>
                <a:latin typeface="Calibri"/>
              </a:rPr>
              <a:t>from the home screen to every answer (ENF-06)</a:t>
            </a:r>
          </a:p>
          <a:p>
            <a:pPr algn="l"/>
            <a:r>
              <a:rPr sz="1600" b="1" i="0">
                <a:solidFill>
                  <a:srgbClr val="0B6E69"/>
                </a:solidFill>
                <a:latin typeface="Calibri"/>
              </a:rPr>
              <a:t>A-08</a:t>
            </a:r>
          </a:p>
          <a:p>
            <a:pPr algn="l">
              <a:spcAft>
                <a:spcPts val="800"/>
              </a:spcAft>
            </a:pPr>
            <a:r>
              <a:rPr sz="1500" b="0" i="0">
                <a:solidFill>
                  <a:srgbClr val="1F2A33"/>
                </a:solidFill>
                <a:latin typeface="Calibri"/>
              </a:rPr>
              <a:t>PASS</a:t>
            </a:r>
          </a:p>
        </p:txBody>
      </p:sp>
      <p:sp>
        <p:nvSpPr>
          <p:cNvPr id="13"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14"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22B"/>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FFFFFF"/>
                </a:solidFill>
                <a:latin typeface="Calibri"/>
              </a:rPr>
              <a:t>Acceptance: 9 of 10 criteria met so far</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FB8B0"/>
                </a:solidFill>
                <a:latin typeface="Calibri"/>
              </a:rPr>
              <a:t>Spec 17, each status generated from its evidence file</a:t>
            </a:r>
          </a:p>
        </p:txBody>
      </p:sp>
      <p:sp>
        <p:nvSpPr>
          <p:cNvPr id="4" name="acc-A-01"/>
          <p:cNvSpPr/>
          <p:nvPr/>
        </p:nvSpPr>
        <p:spPr>
          <a:xfrm>
            <a:off x="548640" y="1737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lamp-A-01"/>
          <p:cNvSpPr/>
          <p:nvPr/>
        </p:nvSpPr>
        <p:spPr>
          <a:xfrm>
            <a:off x="749808" y="1965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cc-id-A-01"/>
          <p:cNvSpPr txBox="1"/>
          <p:nvPr/>
        </p:nvSpPr>
        <p:spPr>
          <a:xfrm>
            <a:off x="1234440" y="1920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A-01</a:t>
            </a:r>
          </a:p>
        </p:txBody>
      </p:sp>
      <p:sp>
        <p:nvSpPr>
          <p:cNvPr id="7" name="acc-status-A-01"/>
          <p:cNvSpPr txBox="1"/>
          <p:nvPr/>
        </p:nvSpPr>
        <p:spPr>
          <a:xfrm>
            <a:off x="749808" y="2423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8" name="acc-what-A-01"/>
          <p:cNvSpPr txBox="1"/>
          <p:nvPr/>
        </p:nvSpPr>
        <p:spPr>
          <a:xfrm>
            <a:off x="749808" y="2834640"/>
            <a:ext cx="1655612" cy="914400"/>
          </a:xfrm>
          <a:prstGeom prst="rect">
            <a:avLst/>
          </a:prstGeom>
          <a:noFill/>
        </p:spPr>
        <p:txBody>
          <a:bodyPr wrap="square" lIns="0" rIns="0" tIns="0" bIns="0" anchor="t">
            <a:spAutoFit/>
          </a:bodyPr>
          <a:lstStyle/>
          <a:p>
            <a:pPr algn="l"/>
            <a:r>
              <a:rPr sz="1300" b="0" i="0">
                <a:solidFill>
                  <a:srgbClr val="5FB8B0"/>
                </a:solidFill>
                <a:latin typeface="Calibri"/>
              </a:rPr>
              <a:t>same seed, same KPIs</a:t>
            </a:r>
          </a:p>
        </p:txBody>
      </p:sp>
      <p:sp>
        <p:nvSpPr>
          <p:cNvPr id="9" name="acc-A-02"/>
          <p:cNvSpPr/>
          <p:nvPr/>
        </p:nvSpPr>
        <p:spPr>
          <a:xfrm>
            <a:off x="2807756" y="1737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cc-lamp-A-02"/>
          <p:cNvSpPr/>
          <p:nvPr/>
        </p:nvSpPr>
        <p:spPr>
          <a:xfrm>
            <a:off x="3008924" y="1965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cc-id-A-02"/>
          <p:cNvSpPr txBox="1"/>
          <p:nvPr/>
        </p:nvSpPr>
        <p:spPr>
          <a:xfrm>
            <a:off x="3493556" y="1920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A-02</a:t>
            </a:r>
          </a:p>
        </p:txBody>
      </p:sp>
      <p:sp>
        <p:nvSpPr>
          <p:cNvPr id="12" name="acc-status-A-02"/>
          <p:cNvSpPr txBox="1"/>
          <p:nvPr/>
        </p:nvSpPr>
        <p:spPr>
          <a:xfrm>
            <a:off x="3008924" y="2423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13" name="acc-what-A-02"/>
          <p:cNvSpPr txBox="1"/>
          <p:nvPr/>
        </p:nvSpPr>
        <p:spPr>
          <a:xfrm>
            <a:off x="3008924" y="2834640"/>
            <a:ext cx="1655612" cy="914400"/>
          </a:xfrm>
          <a:prstGeom prst="rect">
            <a:avLst/>
          </a:prstGeom>
          <a:noFill/>
        </p:spPr>
        <p:txBody>
          <a:bodyPr wrap="square" lIns="0" rIns="0" tIns="0" bIns="0" anchor="t">
            <a:spAutoFit/>
          </a:bodyPr>
          <a:lstStyle/>
          <a:p>
            <a:pPr algn="l"/>
            <a:r>
              <a:rPr sz="1300" b="0" i="0">
                <a:solidFill>
                  <a:srgbClr val="5FB8B0"/>
                </a:solidFill>
                <a:latin typeface="Calibri"/>
              </a:rPr>
              <a:t>simulated flow vs sensors</a:t>
            </a:r>
          </a:p>
        </p:txBody>
      </p:sp>
      <p:sp>
        <p:nvSpPr>
          <p:cNvPr id="14" name="acc-A-03"/>
          <p:cNvSpPr/>
          <p:nvPr/>
        </p:nvSpPr>
        <p:spPr>
          <a:xfrm>
            <a:off x="5066872" y="1737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cc-lamp-A-03"/>
          <p:cNvSpPr/>
          <p:nvPr/>
        </p:nvSpPr>
        <p:spPr>
          <a:xfrm>
            <a:off x="5268040" y="1965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cc-id-A-03"/>
          <p:cNvSpPr txBox="1"/>
          <p:nvPr/>
        </p:nvSpPr>
        <p:spPr>
          <a:xfrm>
            <a:off x="5752672" y="1920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A-03</a:t>
            </a:r>
          </a:p>
        </p:txBody>
      </p:sp>
      <p:sp>
        <p:nvSpPr>
          <p:cNvPr id="17" name="acc-status-A-03"/>
          <p:cNvSpPr txBox="1"/>
          <p:nvPr/>
        </p:nvSpPr>
        <p:spPr>
          <a:xfrm>
            <a:off x="5268040" y="2423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18" name="acc-what-A-03"/>
          <p:cNvSpPr txBox="1"/>
          <p:nvPr/>
        </p:nvSpPr>
        <p:spPr>
          <a:xfrm>
            <a:off x="5268040" y="2834640"/>
            <a:ext cx="1655612" cy="914400"/>
          </a:xfrm>
          <a:prstGeom prst="rect">
            <a:avLst/>
          </a:prstGeom>
          <a:noFill/>
        </p:spPr>
        <p:txBody>
          <a:bodyPr wrap="square" lIns="0" rIns="0" tIns="0" bIns="0" anchor="t">
            <a:spAutoFit/>
          </a:bodyPr>
          <a:lstStyle/>
          <a:p>
            <a:pPr algn="l"/>
            <a:r>
              <a:rPr sz="1300" b="0" i="0">
                <a:solidFill>
                  <a:srgbClr val="5FB8B0"/>
                </a:solidFill>
                <a:latin typeface="Calibri"/>
              </a:rPr>
              <a:t>four controllers, one KPI file</a:t>
            </a:r>
          </a:p>
        </p:txBody>
      </p:sp>
      <p:sp>
        <p:nvSpPr>
          <p:cNvPr id="19" name="acc-A-04"/>
          <p:cNvSpPr/>
          <p:nvPr/>
        </p:nvSpPr>
        <p:spPr>
          <a:xfrm>
            <a:off x="7325988" y="1737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cc-lamp-A-04"/>
          <p:cNvSpPr/>
          <p:nvPr/>
        </p:nvSpPr>
        <p:spPr>
          <a:xfrm>
            <a:off x="7527156" y="1965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cc-id-A-04"/>
          <p:cNvSpPr txBox="1"/>
          <p:nvPr/>
        </p:nvSpPr>
        <p:spPr>
          <a:xfrm>
            <a:off x="8011788" y="1920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A-04</a:t>
            </a:r>
          </a:p>
        </p:txBody>
      </p:sp>
      <p:sp>
        <p:nvSpPr>
          <p:cNvPr id="22" name="acc-status-A-04"/>
          <p:cNvSpPr txBox="1"/>
          <p:nvPr/>
        </p:nvSpPr>
        <p:spPr>
          <a:xfrm>
            <a:off x="7527156" y="2423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23" name="acc-what-A-04"/>
          <p:cNvSpPr txBox="1"/>
          <p:nvPr/>
        </p:nvSpPr>
        <p:spPr>
          <a:xfrm>
            <a:off x="7527156" y="2834640"/>
            <a:ext cx="1655612" cy="914400"/>
          </a:xfrm>
          <a:prstGeom prst="rect">
            <a:avLst/>
          </a:prstGeom>
          <a:noFill/>
        </p:spPr>
        <p:txBody>
          <a:bodyPr wrap="square" lIns="0" rIns="0" tIns="0" bIns="0" anchor="t">
            <a:spAutoFit/>
          </a:bodyPr>
          <a:lstStyle/>
          <a:p>
            <a:pPr algn="l"/>
            <a:r>
              <a:rPr sz="1300" b="0" i="0">
                <a:solidFill>
                  <a:srgbClr val="5FB8B0"/>
                </a:solidFill>
                <a:latin typeface="Calibri"/>
              </a:rPr>
              <a:t>no dangerous sequence, bounded pedestrian wait</a:t>
            </a:r>
          </a:p>
        </p:txBody>
      </p:sp>
      <p:sp>
        <p:nvSpPr>
          <p:cNvPr id="24" name="acc-A-05"/>
          <p:cNvSpPr/>
          <p:nvPr/>
        </p:nvSpPr>
        <p:spPr>
          <a:xfrm>
            <a:off x="9585104" y="1737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cc-lamp-A-05"/>
          <p:cNvSpPr/>
          <p:nvPr/>
        </p:nvSpPr>
        <p:spPr>
          <a:xfrm>
            <a:off x="9786272" y="1965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id-A-05"/>
          <p:cNvSpPr txBox="1"/>
          <p:nvPr/>
        </p:nvSpPr>
        <p:spPr>
          <a:xfrm>
            <a:off x="10270904" y="1920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A-05</a:t>
            </a:r>
          </a:p>
        </p:txBody>
      </p:sp>
      <p:sp>
        <p:nvSpPr>
          <p:cNvPr id="27" name="acc-status-A-05"/>
          <p:cNvSpPr txBox="1"/>
          <p:nvPr/>
        </p:nvSpPr>
        <p:spPr>
          <a:xfrm>
            <a:off x="9786272" y="2423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28" name="acc-what-A-05"/>
          <p:cNvSpPr txBox="1"/>
          <p:nvPr/>
        </p:nvSpPr>
        <p:spPr>
          <a:xfrm>
            <a:off x="9786272" y="2834640"/>
            <a:ext cx="1655612" cy="914400"/>
          </a:xfrm>
          <a:prstGeom prst="rect">
            <a:avLst/>
          </a:prstGeom>
          <a:noFill/>
        </p:spPr>
        <p:txBody>
          <a:bodyPr wrap="square" lIns="0" rIns="0" tIns="0" bIns="0" anchor="t">
            <a:spAutoFit/>
          </a:bodyPr>
          <a:lstStyle/>
          <a:p>
            <a:pPr algn="l"/>
            <a:r>
              <a:rPr sz="1300" b="0" i="0">
                <a:solidFill>
                  <a:srgbClr val="5FB8B0"/>
                </a:solidFill>
                <a:latin typeface="Calibri"/>
              </a:rPr>
              <a:t>preemption speeds up the ambulance</a:t>
            </a:r>
          </a:p>
        </p:txBody>
      </p:sp>
      <p:sp>
        <p:nvSpPr>
          <p:cNvPr id="29" name="acc-A-06"/>
          <p:cNvSpPr/>
          <p:nvPr/>
        </p:nvSpPr>
        <p:spPr>
          <a:xfrm>
            <a:off x="548640" y="4023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cc-lamp-A-06"/>
          <p:cNvSpPr/>
          <p:nvPr/>
        </p:nvSpPr>
        <p:spPr>
          <a:xfrm>
            <a:off x="749808" y="4251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cc-id-A-06"/>
          <p:cNvSpPr txBox="1"/>
          <p:nvPr/>
        </p:nvSpPr>
        <p:spPr>
          <a:xfrm>
            <a:off x="1234440" y="4206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A-06</a:t>
            </a:r>
          </a:p>
        </p:txBody>
      </p:sp>
      <p:sp>
        <p:nvSpPr>
          <p:cNvPr id="32" name="acc-status-A-06"/>
          <p:cNvSpPr txBox="1"/>
          <p:nvPr/>
        </p:nvSpPr>
        <p:spPr>
          <a:xfrm>
            <a:off x="749808" y="4709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33" name="acc-what-A-06"/>
          <p:cNvSpPr txBox="1"/>
          <p:nvPr/>
        </p:nvSpPr>
        <p:spPr>
          <a:xfrm>
            <a:off x="749808" y="5120640"/>
            <a:ext cx="1655612" cy="914400"/>
          </a:xfrm>
          <a:prstGeom prst="rect">
            <a:avLst/>
          </a:prstGeom>
          <a:noFill/>
        </p:spPr>
        <p:txBody>
          <a:bodyPr wrap="square" lIns="0" rIns="0" tIns="0" bIns="0" anchor="t">
            <a:spAutoFit/>
          </a:bodyPr>
          <a:lstStyle/>
          <a:p>
            <a:pPr algn="l"/>
            <a:r>
              <a:rPr sz="1300" b="0" i="0">
                <a:solidFill>
                  <a:srgbClr val="5FB8B0"/>
                </a:solidFill>
                <a:latin typeface="Calibri"/>
              </a:rPr>
              <a:t>RL vs baselines, shown either way</a:t>
            </a:r>
          </a:p>
        </p:txBody>
      </p:sp>
      <p:sp>
        <p:nvSpPr>
          <p:cNvPr id="34" name="acc-A-07"/>
          <p:cNvSpPr/>
          <p:nvPr/>
        </p:nvSpPr>
        <p:spPr>
          <a:xfrm>
            <a:off x="2807756" y="4023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cc-lamp-A-07"/>
          <p:cNvSpPr/>
          <p:nvPr/>
        </p:nvSpPr>
        <p:spPr>
          <a:xfrm>
            <a:off x="3008924" y="4251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cc-id-A-07"/>
          <p:cNvSpPr txBox="1"/>
          <p:nvPr/>
        </p:nvSpPr>
        <p:spPr>
          <a:xfrm>
            <a:off x="3493556" y="4206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A-07</a:t>
            </a:r>
          </a:p>
        </p:txBody>
      </p:sp>
      <p:sp>
        <p:nvSpPr>
          <p:cNvPr id="37" name="acc-status-A-07"/>
          <p:cNvSpPr txBox="1"/>
          <p:nvPr/>
        </p:nvSpPr>
        <p:spPr>
          <a:xfrm>
            <a:off x="3008924" y="4709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38" name="acc-what-A-07"/>
          <p:cNvSpPr txBox="1"/>
          <p:nvPr/>
        </p:nvSpPr>
        <p:spPr>
          <a:xfrm>
            <a:off x="3008924" y="5120640"/>
            <a:ext cx="1655612" cy="914400"/>
          </a:xfrm>
          <a:prstGeom prst="rect">
            <a:avLst/>
          </a:prstGeom>
          <a:noFill/>
        </p:spPr>
        <p:txBody>
          <a:bodyPr wrap="square" lIns="0" rIns="0" tIns="0" bIns="0" anchor="t">
            <a:spAutoFit/>
          </a:bodyPr>
          <a:lstStyle/>
          <a:p>
            <a:pPr algn="l"/>
            <a:r>
              <a:rPr sz="1300" b="0" i="0">
                <a:solidFill>
                  <a:srgbClr val="5FB8B0"/>
                </a:solidFill>
                <a:latin typeface="Calibri"/>
              </a:rPr>
              <a:t>ETA interval coverage</a:t>
            </a:r>
          </a:p>
        </p:txBody>
      </p:sp>
      <p:sp>
        <p:nvSpPr>
          <p:cNvPr id="39" name="acc-A-08"/>
          <p:cNvSpPr/>
          <p:nvPr/>
        </p:nvSpPr>
        <p:spPr>
          <a:xfrm>
            <a:off x="5066872" y="4023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cc-lamp-A-08"/>
          <p:cNvSpPr/>
          <p:nvPr/>
        </p:nvSpPr>
        <p:spPr>
          <a:xfrm>
            <a:off x="5268040" y="4251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cc-id-A-08"/>
          <p:cNvSpPr txBox="1"/>
          <p:nvPr/>
        </p:nvSpPr>
        <p:spPr>
          <a:xfrm>
            <a:off x="5752672" y="4206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A-08</a:t>
            </a:r>
          </a:p>
        </p:txBody>
      </p:sp>
      <p:sp>
        <p:nvSpPr>
          <p:cNvPr id="42" name="acc-status-A-08"/>
          <p:cNvSpPr txBox="1"/>
          <p:nvPr/>
        </p:nvSpPr>
        <p:spPr>
          <a:xfrm>
            <a:off x="5268040" y="4709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43" name="acc-what-A-08"/>
          <p:cNvSpPr txBox="1"/>
          <p:nvPr/>
        </p:nvSpPr>
        <p:spPr>
          <a:xfrm>
            <a:off x="5268040" y="5120640"/>
            <a:ext cx="1655612" cy="914400"/>
          </a:xfrm>
          <a:prstGeom prst="rect">
            <a:avLst/>
          </a:prstGeom>
          <a:noFill/>
        </p:spPr>
        <p:txBody>
          <a:bodyPr wrap="square" lIns="0" rIns="0" tIns="0" bIns="0" anchor="t">
            <a:spAutoFit/>
          </a:bodyPr>
          <a:lstStyle/>
          <a:p>
            <a:pPr algn="l"/>
            <a:r>
              <a:rPr sz="1300" b="0" i="0">
                <a:solidFill>
                  <a:srgbClr val="5FB8B0"/>
                </a:solidFill>
                <a:latin typeface="Calibri"/>
              </a:rPr>
              <a:t>every view via the API, all states</a:t>
            </a:r>
          </a:p>
        </p:txBody>
      </p:sp>
      <p:sp>
        <p:nvSpPr>
          <p:cNvPr id="44" name="acc-A-09"/>
          <p:cNvSpPr/>
          <p:nvPr/>
        </p:nvSpPr>
        <p:spPr>
          <a:xfrm>
            <a:off x="7325988" y="4023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cc-lamp-A-09"/>
          <p:cNvSpPr/>
          <p:nvPr/>
        </p:nvSpPr>
        <p:spPr>
          <a:xfrm>
            <a:off x="7527156" y="4251960"/>
            <a:ext cx="329184" cy="329184"/>
          </a:xfrm>
          <a:prstGeom prst="ellipse">
            <a:avLst/>
          </a:prstGeom>
          <a:solidFill>
            <a:srgbClr val="5FB8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cc-id-A-09"/>
          <p:cNvSpPr txBox="1"/>
          <p:nvPr/>
        </p:nvSpPr>
        <p:spPr>
          <a:xfrm>
            <a:off x="8011788" y="4206240"/>
            <a:ext cx="1234988" cy="457200"/>
          </a:xfrm>
          <a:prstGeom prst="rect">
            <a:avLst/>
          </a:prstGeom>
          <a:noFill/>
        </p:spPr>
        <p:txBody>
          <a:bodyPr wrap="square" lIns="0" rIns="0" tIns="0" bIns="0" anchor="t">
            <a:spAutoFit/>
          </a:bodyPr>
          <a:lstStyle/>
          <a:p>
            <a:pPr algn="l"/>
            <a:r>
              <a:rPr sz="1800" b="1" i="0">
                <a:solidFill>
                  <a:srgbClr val="FFFFFF"/>
                </a:solidFill>
                <a:latin typeface="Calibri"/>
              </a:rPr>
              <a:t>A-09</a:t>
            </a:r>
          </a:p>
        </p:txBody>
      </p:sp>
      <p:sp>
        <p:nvSpPr>
          <p:cNvPr id="47" name="acc-status-A-09"/>
          <p:cNvSpPr txBox="1"/>
          <p:nvPr/>
        </p:nvSpPr>
        <p:spPr>
          <a:xfrm>
            <a:off x="7527156" y="4709160"/>
            <a:ext cx="1655612" cy="365760"/>
          </a:xfrm>
          <a:prstGeom prst="rect">
            <a:avLst/>
          </a:prstGeom>
          <a:noFill/>
        </p:spPr>
        <p:txBody>
          <a:bodyPr wrap="square" lIns="0" rIns="0" tIns="0" bIns="0" anchor="t">
            <a:spAutoFit/>
          </a:bodyPr>
          <a:lstStyle/>
          <a:p>
            <a:pPr algn="l"/>
            <a:r>
              <a:rPr sz="1600" b="1" i="0">
                <a:solidFill>
                  <a:srgbClr val="5FB8B0"/>
                </a:solidFill>
                <a:latin typeface="Calibri"/>
              </a:rPr>
              <a:t>PASS</a:t>
            </a:r>
          </a:p>
        </p:txBody>
      </p:sp>
      <p:sp>
        <p:nvSpPr>
          <p:cNvPr id="48" name="acc-what-A-09"/>
          <p:cNvSpPr txBox="1"/>
          <p:nvPr/>
        </p:nvSpPr>
        <p:spPr>
          <a:xfrm>
            <a:off x="7527156" y="5120640"/>
            <a:ext cx="1655612" cy="914400"/>
          </a:xfrm>
          <a:prstGeom prst="rect">
            <a:avLst/>
          </a:prstGeom>
          <a:noFill/>
        </p:spPr>
        <p:txBody>
          <a:bodyPr wrap="square" lIns="0" rIns="0" tIns="0" bIns="0" anchor="t">
            <a:spAutoFit/>
          </a:bodyPr>
          <a:lstStyle/>
          <a:p>
            <a:pPr algn="l"/>
            <a:r>
              <a:rPr sz="1300" b="0" i="0">
                <a:solidFill>
                  <a:srgbClr val="5FB8B0"/>
                </a:solidFill>
                <a:latin typeface="Calibri"/>
              </a:rPr>
              <a:t>demo without touching the code</a:t>
            </a:r>
          </a:p>
        </p:txBody>
      </p:sp>
      <p:sp>
        <p:nvSpPr>
          <p:cNvPr id="49" name="acc-A-10"/>
          <p:cNvSpPr/>
          <p:nvPr/>
        </p:nvSpPr>
        <p:spPr>
          <a:xfrm>
            <a:off x="9585104" y="4023360"/>
            <a:ext cx="2057948" cy="210312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lamp-A-10"/>
          <p:cNvSpPr/>
          <p:nvPr/>
        </p:nvSpPr>
        <p:spPr>
          <a:xfrm>
            <a:off x="9786272" y="425196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acc-id-A-10"/>
          <p:cNvSpPr txBox="1"/>
          <p:nvPr/>
        </p:nvSpPr>
        <p:spPr>
          <a:xfrm>
            <a:off x="10270904" y="4206240"/>
            <a:ext cx="1234988" cy="457200"/>
          </a:xfrm>
          <a:prstGeom prst="rect">
            <a:avLst/>
          </a:prstGeom>
          <a:noFill/>
        </p:spPr>
        <p:txBody>
          <a:bodyPr wrap="square" lIns="0" rIns="0" tIns="0" bIns="0" anchor="t">
            <a:spAutoFit/>
          </a:bodyPr>
          <a:lstStyle/>
          <a:p>
            <a:pPr algn="l"/>
            <a:r>
              <a:rPr sz="1800" b="1" i="0">
                <a:solidFill>
                  <a:srgbClr val="FFFFFF"/>
                </a:solidFill>
                <a:latin typeface="Calibri"/>
              </a:rPr>
              <a:t>A-10</a:t>
            </a:r>
          </a:p>
        </p:txBody>
      </p:sp>
      <p:sp>
        <p:nvSpPr>
          <p:cNvPr id="52" name="acc-status-A-10"/>
          <p:cNvSpPr txBox="1"/>
          <p:nvPr/>
        </p:nvSpPr>
        <p:spPr>
          <a:xfrm>
            <a:off x="9786272" y="4709160"/>
            <a:ext cx="1655612" cy="365760"/>
          </a:xfrm>
          <a:prstGeom prst="rect">
            <a:avLst/>
          </a:prstGeom>
          <a:noFill/>
        </p:spPr>
        <p:txBody>
          <a:bodyPr wrap="square" lIns="0" rIns="0" tIns="0" bIns="0" anchor="t">
            <a:spAutoFit/>
          </a:bodyPr>
          <a:lstStyle/>
          <a:p>
            <a:pPr algn="l"/>
            <a:r>
              <a:rPr sz="1600" b="1" i="0">
                <a:solidFill>
                  <a:srgbClr val="F2A900"/>
                </a:solidFill>
                <a:latin typeface="Calibri"/>
              </a:rPr>
              <a:t>PENDING</a:t>
            </a:r>
          </a:p>
        </p:txBody>
      </p:sp>
      <p:sp>
        <p:nvSpPr>
          <p:cNvPr id="53" name="acc-what-A-10"/>
          <p:cNvSpPr txBox="1"/>
          <p:nvPr/>
        </p:nvSpPr>
        <p:spPr>
          <a:xfrm>
            <a:off x="9786272" y="5120640"/>
            <a:ext cx="1655612" cy="914400"/>
          </a:xfrm>
          <a:prstGeom prst="rect">
            <a:avLst/>
          </a:prstGeom>
          <a:noFill/>
        </p:spPr>
        <p:txBody>
          <a:bodyPr wrap="square" lIns="0" rIns="0" tIns="0" bIns="0" anchor="t">
            <a:spAutoFit/>
          </a:bodyPr>
          <a:lstStyle/>
          <a:p>
            <a:pPr algn="l"/>
            <a:r>
              <a:rPr sz="1300" b="0" i="0">
                <a:solidFill>
                  <a:srgbClr val="5FB8B0"/>
                </a:solidFill>
                <a:latin typeface="Calibri"/>
              </a:rPr>
              <a:t>3 to 5 real users</a:t>
            </a:r>
          </a:p>
        </p:txBody>
      </p:sp>
      <p:sp>
        <p:nvSpPr>
          <p:cNvPr id="54"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FB8B0"/>
                </a:solidFill>
                <a:latin typeface="Calibri"/>
              </a:rPr>
              <a:t>Simulated data · ASSUMED signal program</a:t>
            </a:r>
          </a:p>
        </p:txBody>
      </p:sp>
      <p:sp>
        <p:nvSpPr>
          <p:cNvPr id="55"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FB8B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1F2A33"/>
                </a:solidFill>
                <a:latin typeface="Calibri"/>
              </a:rPr>
              <a:t>Limitations and what comes next</a:t>
            </a:r>
          </a:p>
        </p:txBody>
      </p:sp>
      <p:sp>
        <p:nvSpPr>
          <p:cNvPr id="3" name="col-0"/>
          <p:cNvSpPr txBox="1"/>
          <p:nvPr/>
        </p:nvSpPr>
        <p:spPr>
          <a:xfrm>
            <a:off x="548640" y="1463040"/>
            <a:ext cx="5394960" cy="4754880"/>
          </a:xfrm>
          <a:prstGeom prst="rect">
            <a:avLst/>
          </a:prstGeom>
          <a:noFill/>
        </p:spPr>
        <p:txBody>
          <a:bodyPr wrap="square" lIns="0" rIns="0" tIns="0" bIns="0" anchor="t">
            <a:spAutoFit/>
          </a:bodyPr>
          <a:lstStyle/>
          <a:p>
            <a:pPr algn="l">
              <a:spcAft>
                <a:spcPts val="600"/>
              </a:spcAft>
            </a:pPr>
            <a:r>
              <a:rPr sz="2000" b="1" i="0">
                <a:solidFill>
                  <a:srgbClr val="C63D2F"/>
                </a:solidFill>
                <a:latin typeface="Calibri"/>
              </a:rPr>
              <a:t>Limitations</a:t>
            </a:r>
          </a:p>
          <a:p>
            <a:pPr algn="l">
              <a:spcAft>
                <a:spcPts val="800"/>
              </a:spcAft>
            </a:pPr>
            <a:r>
              <a:rPr sz="1600" b="0" i="0">
                <a:solidFill>
                  <a:srgbClr val="1F2A33"/>
                </a:solidFill>
                <a:latin typeface="Calibri"/>
              </a:rPr>
              <a:t>•  The twin learns the simulator: one junction, one day type, ten seeds.</a:t>
            </a:r>
          </a:p>
          <a:p>
            <a:pPr algn="l">
              <a:spcAft>
                <a:spcPts val="800"/>
              </a:spcAft>
            </a:pPr>
            <a:r>
              <a:rPr sz="1600" b="0" i="0">
                <a:solidFill>
                  <a:srgbClr val="1F2A33"/>
                </a:solidFill>
                <a:latin typeface="Calibri"/>
              </a:rPr>
              <a:t>•  The signal program is ASSUMED until the field visit; timing and queues are NOT_MEASURED.</a:t>
            </a:r>
          </a:p>
          <a:p>
            <a:pPr algn="l">
              <a:spcAft>
                <a:spcPts val="800"/>
              </a:spcAft>
            </a:pPr>
            <a:r>
              <a:rPr sz="1600" b="0" i="0">
                <a:solidFill>
                  <a:srgbClr val="1F2A33"/>
                </a:solidFill>
                <a:latin typeface="Calibri"/>
              </a:rPr>
              <a:t>•  Detection is ideal (pedestrians, buses, ambulance before it enters).</a:t>
            </a:r>
          </a:p>
          <a:p>
            <a:pPr algn="l">
              <a:spcAft>
                <a:spcPts val="800"/>
              </a:spcAft>
            </a:pPr>
            <a:r>
              <a:rPr sz="1600" b="0" i="0">
                <a:solidFill>
                  <a:srgbClr val="1F2A33"/>
                </a:solidFill>
                <a:latin typeface="Calibri"/>
              </a:rPr>
              <a:t>•  S3 does not observe pedestrians; S4 (S3 without preemption) is out of distribution.</a:t>
            </a:r>
          </a:p>
          <a:p>
            <a:pPr algn="l">
              <a:spcAft>
                <a:spcPts val="800"/>
              </a:spcAft>
            </a:pPr>
            <a:r>
              <a:rPr sz="1600" b="0" i="0">
                <a:solidFill>
                  <a:srgbClr val="1F2A33"/>
                </a:solidFill>
                <a:latin typeface="Calibri"/>
              </a:rPr>
              <a:t>•  One ambulance per run gives A-05 little power.</a:t>
            </a:r>
          </a:p>
        </p:txBody>
      </p:sp>
      <p:sp>
        <p:nvSpPr>
          <p:cNvPr id="4" name="col-1"/>
          <p:cNvSpPr txBox="1"/>
          <p:nvPr/>
        </p:nvSpPr>
        <p:spPr>
          <a:xfrm>
            <a:off x="6217920" y="1463040"/>
            <a:ext cx="5394960" cy="4754880"/>
          </a:xfrm>
          <a:prstGeom prst="rect">
            <a:avLst/>
          </a:prstGeom>
          <a:noFill/>
        </p:spPr>
        <p:txBody>
          <a:bodyPr wrap="square" lIns="0" rIns="0" tIns="0" bIns="0" anchor="t">
            <a:spAutoFit/>
          </a:bodyPr>
          <a:lstStyle/>
          <a:p>
            <a:pPr algn="l">
              <a:spcAft>
                <a:spcPts val="600"/>
              </a:spcAft>
            </a:pPr>
            <a:r>
              <a:rPr sz="2000" b="1" i="0">
                <a:solidFill>
                  <a:srgbClr val="0B6E69"/>
                </a:solidFill>
                <a:latin typeface="Calibri"/>
              </a:rPr>
              <a:t>Next</a:t>
            </a:r>
          </a:p>
          <a:p>
            <a:pPr algn="l">
              <a:spcAft>
                <a:spcPts val="800"/>
              </a:spcAft>
            </a:pPr>
            <a:r>
              <a:rPr sz="1600" b="0" i="0">
                <a:solidFill>
                  <a:srgbClr val="1F2A33"/>
                </a:solidFill>
                <a:latin typeface="Calibri"/>
              </a:rPr>
              <a:t>•  Field visit 3-5 Nov 2026: measured program, queues, counts.</a:t>
            </a:r>
          </a:p>
          <a:p>
            <a:pPr algn="l">
              <a:spcAft>
                <a:spcPts val="800"/>
              </a:spcAft>
            </a:pPr>
            <a:r>
              <a:rPr sz="1600" b="0" i="0">
                <a:solidFill>
                  <a:srgbClr val="1F2A33"/>
                </a:solidFill>
                <a:latin typeface="Calibri"/>
              </a:rPr>
              <a:t>•  If the program differs: rerun Parts 3 to 8, report version 2.</a:t>
            </a:r>
          </a:p>
          <a:p>
            <a:pPr algn="l">
              <a:spcAft>
                <a:spcPts val="800"/>
              </a:spcAft>
            </a:pPr>
            <a:r>
              <a:rPr sz="1600" b="0" i="0">
                <a:solidFill>
                  <a:srgbClr val="1F2A33"/>
                </a:solidFill>
                <a:latin typeface="Calibri"/>
              </a:rPr>
              <a:t>•  Real user sessions (A-10), then fixes and a second round.</a:t>
            </a:r>
          </a:p>
          <a:p>
            <a:pPr algn="l">
              <a:spcAft>
                <a:spcPts val="800"/>
              </a:spcAft>
            </a:pPr>
            <a:r>
              <a:rPr sz="1600" b="0" i="0">
                <a:solidFill>
                  <a:srgbClr val="1F2A33"/>
                </a:solidFill>
                <a:latin typeface="Calibri"/>
              </a:rPr>
              <a:t>•  RL that observes pedestrians, only as a new pre-registered study.</a:t>
            </a:r>
          </a:p>
        </p:txBody>
      </p:sp>
      <p:sp>
        <p:nvSpPr>
          <p:cNvPr id="5"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B6770"/>
                </a:solidFill>
                <a:latin typeface="Calibri"/>
              </a:rPr>
              <a:t>Simulated data · ASSUMED signal program</a:t>
            </a:r>
          </a:p>
        </p:txBody>
      </p:sp>
      <p:sp>
        <p:nvSpPr>
          <p:cNvPr id="6"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B677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22B"/>
        </a:solidFill>
        <a:effectLst/>
      </p:bgPr>
    </p:bg>
    <p:spTree>
      <p:nvGrpSpPr>
        <p:cNvPr id="1" name=""/>
        <p:cNvGrpSpPr/>
        <p:nvPr/>
      </p:nvGrpSpPr>
      <p:grpSpPr/>
      <p:sp>
        <p:nvSpPr>
          <p:cNvPr id="2" name="title"/>
          <p:cNvSpPr txBox="1"/>
          <p:nvPr/>
        </p:nvSpPr>
        <p:spPr>
          <a:xfrm>
            <a:off x="548640" y="384048"/>
            <a:ext cx="11094415" cy="685800"/>
          </a:xfrm>
          <a:prstGeom prst="rect">
            <a:avLst/>
          </a:prstGeom>
          <a:noFill/>
        </p:spPr>
        <p:txBody>
          <a:bodyPr wrap="square" lIns="0" rIns="0" tIns="0" bIns="0" anchor="t">
            <a:spAutoFit/>
          </a:bodyPr>
          <a:lstStyle/>
          <a:p>
            <a:pPr algn="l"/>
            <a:r>
              <a:rPr sz="3200" b="1" i="0">
                <a:solidFill>
                  <a:srgbClr val="FFFFFF"/>
                </a:solidFill>
                <a:latin typeface="Calibri"/>
              </a:rPr>
              <a:t>Live demo</a:t>
            </a:r>
          </a:p>
        </p:txBody>
      </p:sp>
      <p:sp>
        <p:nvSpPr>
          <p:cNvPr id="3" name="subtitle"/>
          <p:cNvSpPr txBox="1"/>
          <p:nvPr/>
        </p:nvSpPr>
        <p:spPr>
          <a:xfrm>
            <a:off x="548640" y="1051560"/>
            <a:ext cx="11094415" cy="457200"/>
          </a:xfrm>
          <a:prstGeom prst="rect">
            <a:avLst/>
          </a:prstGeom>
          <a:noFill/>
        </p:spPr>
        <p:txBody>
          <a:bodyPr wrap="square" lIns="0" rIns="0" tIns="0" bIns="0" anchor="t">
            <a:spAutoFit/>
          </a:bodyPr>
          <a:lstStyle/>
          <a:p>
            <a:pPr algn="l"/>
            <a:r>
              <a:rPr sz="1600" b="0" i="0">
                <a:solidFill>
                  <a:srgbClr val="5FB8B0"/>
                </a:solidFill>
                <a:latin typeface="Calibri"/>
              </a:rPr>
              <a:t>tasks.py demo: the API and the operator view, started by one command</a:t>
            </a:r>
          </a:p>
        </p:txBody>
      </p:sp>
      <p:sp>
        <p:nvSpPr>
          <p:cNvPr id="4" name="steps"/>
          <p:cNvSpPr txBox="1"/>
          <p:nvPr/>
        </p:nvSpPr>
        <p:spPr>
          <a:xfrm>
            <a:off x="548640" y="1691640"/>
            <a:ext cx="6949440" cy="2377440"/>
          </a:xfrm>
          <a:prstGeom prst="rect">
            <a:avLst/>
          </a:prstGeom>
          <a:noFill/>
        </p:spPr>
        <p:txBody>
          <a:bodyPr wrap="square" lIns="0" rIns="0" tIns="0" bIns="0" anchor="t">
            <a:spAutoFit/>
          </a:bodyPr>
          <a:lstStyle/>
          <a:p>
            <a:pPr algn="l"/>
            <a:r>
              <a:rPr sz="1700" b="1" i="0">
                <a:solidFill>
                  <a:srgbClr val="F2A900"/>
                </a:solidFill>
                <a:latin typeface="Calibri"/>
              </a:rPr>
              <a:t>1  </a:t>
            </a:r>
            <a:r>
              <a:rPr sz="1700" b="1" i="0">
                <a:solidFill>
                  <a:srgbClr val="FFFFFF"/>
                </a:solidFill>
                <a:latin typeface="Calibri"/>
              </a:rPr>
              <a:t>Home  </a:t>
            </a:r>
            <a:r>
              <a:rPr sz="1600" b="0" i="0">
                <a:solidFill>
                  <a:srgbClr val="5FB8B0"/>
                </a:solidFill>
                <a:latin typeface="Calibri"/>
              </a:rPr>
              <a:t>five profiles, two clicks to any answer</a:t>
            </a:r>
          </a:p>
          <a:p>
            <a:pPr algn="l"/>
            <a:r>
              <a:rPr sz="1700" b="1" i="0">
                <a:solidFill>
                  <a:srgbClr val="F2A900"/>
                </a:solidFill>
                <a:latin typeface="Calibri"/>
              </a:rPr>
              <a:t>2  </a:t>
            </a:r>
            <a:r>
              <a:rPr sz="1700" b="1" i="0">
                <a:solidFill>
                  <a:srgbClr val="FFFFFF"/>
                </a:solidFill>
                <a:latin typeface="Calibri"/>
              </a:rPr>
              <a:t>Pedestrian  </a:t>
            </a:r>
            <a:r>
              <a:rPr sz="1600" b="0" i="0">
                <a:solidFill>
                  <a:srgbClr val="5FB8B0"/>
                </a:solidFill>
                <a:latin typeface="Calibri"/>
              </a:rPr>
              <a:t>crossing S at normal walking speed</a:t>
            </a:r>
          </a:p>
          <a:p>
            <a:pPr algn="l"/>
            <a:r>
              <a:rPr sz="1700" b="1" i="0">
                <a:solidFill>
                  <a:srgbClr val="F2A900"/>
                </a:solidFill>
                <a:latin typeface="Calibri"/>
              </a:rPr>
              <a:t>3  </a:t>
            </a:r>
            <a:r>
              <a:rPr sz="1700" b="1" i="0">
                <a:solidFill>
                  <a:srgbClr val="FFFFFF"/>
                </a:solidFill>
                <a:latin typeface="Calibri"/>
              </a:rPr>
              <a:t>Student  </a:t>
            </a:r>
            <a:r>
              <a:rPr sz="1600" b="0" i="0">
                <a:solidFill>
                  <a:srgbClr val="5FB8B0"/>
                </a:solidFill>
                <a:latin typeface="Calibri"/>
              </a:rPr>
              <a:t>Austerlitz to the hospital, exam at 08:18</a:t>
            </a:r>
          </a:p>
          <a:p>
            <a:pPr algn="l"/>
            <a:r>
              <a:rPr sz="1700" b="1" i="0">
                <a:solidFill>
                  <a:srgbClr val="F2A900"/>
                </a:solidFill>
                <a:latin typeface="Calibri"/>
              </a:rPr>
              <a:t>4  </a:t>
            </a:r>
            <a:r>
              <a:rPr sz="1700" b="1" i="0">
                <a:solidFill>
                  <a:srgbClr val="FFFFFF"/>
                </a:solidFill>
                <a:latin typeface="Calibri"/>
              </a:rPr>
              <a:t>Bus  </a:t>
            </a:r>
            <a:r>
              <a:rPr sz="1600" b="0" i="0">
                <a:solidFill>
                  <a:srgbClr val="5FB8B0"/>
                </a:solidFill>
                <a:latin typeface="Calibri"/>
              </a:rPr>
              <a:t>line 91 delay and headway</a:t>
            </a:r>
          </a:p>
          <a:p>
            <a:pPr algn="l"/>
            <a:r>
              <a:rPr sz="1700" b="1" i="0">
                <a:solidFill>
                  <a:srgbClr val="F2A900"/>
                </a:solidFill>
                <a:latin typeface="Calibri"/>
              </a:rPr>
              <a:t>5  </a:t>
            </a:r>
            <a:r>
              <a:rPr sz="1700" b="1" i="0">
                <a:solidFill>
                  <a:srgbClr val="FFFFFF"/>
                </a:solidFill>
                <a:latin typeface="Calibri"/>
              </a:rPr>
              <a:t>Ambulance  </a:t>
            </a:r>
            <a:r>
              <a:rPr sz="1600" b="0" i="0">
                <a:solidFill>
                  <a:srgbClr val="5FB8B0"/>
                </a:solidFill>
                <a:latin typeface="Calibri"/>
              </a:rPr>
              <a:t>kiosk screen, three junctions</a:t>
            </a:r>
          </a:p>
          <a:p>
            <a:pPr algn="l"/>
            <a:r>
              <a:rPr sz="1700" b="1" i="0">
                <a:solidFill>
                  <a:srgbClr val="F2A900"/>
                </a:solidFill>
                <a:latin typeface="Calibri"/>
              </a:rPr>
              <a:t>6  </a:t>
            </a:r>
            <a:r>
              <a:rPr sz="1700" b="1" i="0">
                <a:solidFill>
                  <a:srgbClr val="FFFFFF"/>
                </a:solidFill>
                <a:latin typeface="Calibri"/>
              </a:rPr>
              <a:t>Replay  </a:t>
            </a:r>
            <a:r>
              <a:rPr sz="1600" b="0" i="0">
                <a:solidFill>
                  <a:srgbClr val="5FB8B0"/>
                </a:solidFill>
                <a:latin typeface="Calibri"/>
              </a:rPr>
              <a:t>the S3 run on demo seed 4000</a:t>
            </a:r>
          </a:p>
          <a:p>
            <a:pPr algn="l"/>
            <a:r>
              <a:rPr sz="1700" b="1" i="0">
                <a:solidFill>
                  <a:srgbClr val="F2A900"/>
                </a:solidFill>
                <a:latin typeface="Calibri"/>
              </a:rPr>
              <a:t>7  </a:t>
            </a:r>
            <a:r>
              <a:rPr sz="1700" b="1" i="0">
                <a:solidFill>
                  <a:srgbClr val="FFFFFF"/>
                </a:solidFill>
                <a:latin typeface="Calibri"/>
              </a:rPr>
              <a:t>Operator  </a:t>
            </a:r>
            <a:r>
              <a:rPr sz="1600" b="0" i="0">
                <a:solidFill>
                  <a:srgbClr val="5FB8B0"/>
                </a:solidFill>
                <a:latin typeface="Calibri"/>
              </a:rPr>
              <a:t>comparison, tests, equity, curves</a:t>
            </a:r>
          </a:p>
        </p:txBody>
      </p:sp>
      <p:sp>
        <p:nvSpPr>
          <p:cNvPr id="5" name="fallback"/>
          <p:cNvSpPr/>
          <p:nvPr/>
        </p:nvSpPr>
        <p:spPr>
          <a:xfrm>
            <a:off x="7863840" y="1691640"/>
            <a:ext cx="3779215" cy="2377440"/>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allback-text"/>
          <p:cNvSpPr txBox="1"/>
          <p:nvPr/>
        </p:nvSpPr>
        <p:spPr>
          <a:xfrm>
            <a:off x="8138160" y="1874519"/>
            <a:ext cx="3230575" cy="2103120"/>
          </a:xfrm>
          <a:prstGeom prst="rect">
            <a:avLst/>
          </a:prstGeom>
          <a:noFill/>
        </p:spPr>
        <p:txBody>
          <a:bodyPr wrap="square" lIns="0" rIns="0" tIns="0" bIns="0" anchor="t">
            <a:spAutoFit/>
          </a:bodyPr>
          <a:lstStyle/>
          <a:p>
            <a:pPr algn="l">
              <a:spcAft>
                <a:spcPts val="400"/>
              </a:spcAft>
            </a:pPr>
            <a:r>
              <a:rPr sz="1800" b="1" i="0">
                <a:solidFill>
                  <a:srgbClr val="F2A900"/>
                </a:solidFill>
                <a:latin typeface="Calibri"/>
              </a:rPr>
              <a:t>Fallback</a:t>
            </a:r>
          </a:p>
          <a:p>
            <a:pPr algn="l"/>
            <a:r>
              <a:rPr sz="1500" b="0" i="0">
                <a:solidFill>
                  <a:srgbClr val="FFFFFF"/>
                </a:solidFill>
                <a:latin typeface="Calibri"/>
              </a:rPr>
              <a:t>If anything fails live: the screenshots of slides 12 and 15 and the precomputed replay. No simulation runs during the demo.</a:t>
            </a:r>
          </a:p>
        </p:txBody>
      </p:sp>
      <p:pic>
        <p:nvPicPr>
          <p:cNvPr id="7" name="fallback-replay" descr="replay.png"/>
          <p:cNvPicPr>
            <a:picLocks noChangeAspect="1"/>
          </p:cNvPicPr>
          <p:nvPr/>
        </p:nvPicPr>
        <p:blipFill>
          <a:blip r:embed="rId2"/>
          <a:stretch>
            <a:fillRect/>
          </a:stretch>
        </p:blipFill>
        <p:spPr>
          <a:xfrm>
            <a:off x="548640" y="4160520"/>
            <a:ext cx="2852928" cy="1783080"/>
          </a:xfrm>
          <a:prstGeom prst="rect">
            <a:avLst/>
          </a:prstGeom>
        </p:spPr>
      </p:pic>
      <p:sp>
        <p:nvSpPr>
          <p:cNvPr id="8" name="fallback-label-replay"/>
          <p:cNvSpPr txBox="1"/>
          <p:nvPr/>
        </p:nvSpPr>
        <p:spPr>
          <a:xfrm>
            <a:off x="548640" y="5961888"/>
            <a:ext cx="3291840" cy="256032"/>
          </a:xfrm>
          <a:prstGeom prst="rect">
            <a:avLst/>
          </a:prstGeom>
          <a:noFill/>
        </p:spPr>
        <p:txBody>
          <a:bodyPr wrap="square" lIns="0" rIns="0" tIns="0" bIns="0" anchor="t">
            <a:spAutoFit/>
          </a:bodyPr>
          <a:lstStyle/>
          <a:p>
            <a:pPr algn="l"/>
            <a:r>
              <a:rPr sz="1200" b="0" i="0">
                <a:solidFill>
                  <a:srgbClr val="5FB8B0"/>
                </a:solidFill>
                <a:latin typeface="Calibri"/>
              </a:rPr>
              <a:t>Replay (fallback)</a:t>
            </a:r>
          </a:p>
        </p:txBody>
      </p:sp>
      <p:pic>
        <p:nvPicPr>
          <p:cNvPr id="9" name="fallback-streamlit" descr="streamlit.png"/>
          <p:cNvPicPr>
            <a:picLocks noChangeAspect="1"/>
          </p:cNvPicPr>
          <p:nvPr/>
        </p:nvPicPr>
        <p:blipFill>
          <a:blip r:embed="rId3"/>
          <a:stretch>
            <a:fillRect/>
          </a:stretch>
        </p:blipFill>
        <p:spPr>
          <a:xfrm>
            <a:off x="4069080" y="4160520"/>
            <a:ext cx="2282342" cy="1783080"/>
          </a:xfrm>
          <a:prstGeom prst="rect">
            <a:avLst/>
          </a:prstGeom>
        </p:spPr>
      </p:pic>
      <p:sp>
        <p:nvSpPr>
          <p:cNvPr id="10" name="fallback-label-streamlit"/>
          <p:cNvSpPr txBox="1"/>
          <p:nvPr/>
        </p:nvSpPr>
        <p:spPr>
          <a:xfrm>
            <a:off x="4069080" y="5961888"/>
            <a:ext cx="3291840" cy="256032"/>
          </a:xfrm>
          <a:prstGeom prst="rect">
            <a:avLst/>
          </a:prstGeom>
          <a:noFill/>
        </p:spPr>
        <p:txBody>
          <a:bodyPr wrap="square" lIns="0" rIns="0" tIns="0" bIns="0" anchor="t">
            <a:spAutoFit/>
          </a:bodyPr>
          <a:lstStyle/>
          <a:p>
            <a:pPr algn="l"/>
            <a:r>
              <a:rPr sz="1200" b="0" i="0">
                <a:solidFill>
                  <a:srgbClr val="5FB8B0"/>
                </a:solidFill>
                <a:latin typeface="Calibri"/>
              </a:rPr>
              <a:t>Operator (fallback)</a:t>
            </a:r>
          </a:p>
        </p:txBody>
      </p:sp>
      <p:sp>
        <p:nvSpPr>
          <p:cNvPr id="11" name="rehearsal"/>
          <p:cNvSpPr/>
          <p:nvPr/>
        </p:nvSpPr>
        <p:spPr>
          <a:xfrm>
            <a:off x="7863840" y="4297680"/>
            <a:ext cx="3779215" cy="1874519"/>
          </a:xfrm>
          <a:prstGeom prst="roundRect">
            <a:avLst>
              <a:gd name="adj" fmla="val 6000"/>
            </a:avLst>
          </a:prstGeom>
          <a:solidFill>
            <a:srgbClr val="24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hearsal-text"/>
          <p:cNvSpPr txBox="1"/>
          <p:nvPr/>
        </p:nvSpPr>
        <p:spPr>
          <a:xfrm>
            <a:off x="8138160" y="4480560"/>
            <a:ext cx="3230575" cy="1645920"/>
          </a:xfrm>
          <a:prstGeom prst="rect">
            <a:avLst/>
          </a:prstGeom>
          <a:noFill/>
        </p:spPr>
        <p:txBody>
          <a:bodyPr wrap="square" lIns="0" rIns="0" tIns="0" bIns="0" anchor="t">
            <a:spAutoFit/>
          </a:bodyPr>
          <a:lstStyle/>
          <a:p>
            <a:pPr algn="l">
              <a:spcAft>
                <a:spcPts val="400"/>
              </a:spcAft>
            </a:pPr>
            <a:r>
              <a:rPr sz="1800" b="1" i="0">
                <a:solidFill>
                  <a:srgbClr val="FFFFFF"/>
                </a:solidFill>
                <a:latin typeface="Calibri"/>
              </a:rPr>
              <a:t>Rehearsal</a:t>
            </a:r>
          </a:p>
          <a:p>
            <a:pPr algn="l"/>
            <a:r>
              <a:rPr sz="1500" b="0" i="0">
                <a:solidFill>
                  <a:srgbClr val="5FB8B0"/>
                </a:solidFill>
                <a:latin typeface="Calibri"/>
              </a:rPr>
              <a:t>Automated: A-08 PASS · A-09 PASS</a:t>
            </a:r>
          </a:p>
          <a:p>
            <a:pPr algn="l"/>
            <a:r>
              <a:rPr sz="1500" b="0" i="0">
                <a:solidFill>
                  <a:srgbClr val="5FB8B0"/>
                </a:solidFill>
                <a:latin typeface="Calibri"/>
              </a:rPr>
              <a:t>Rehearsed by presenter: PENDING</a:t>
            </a:r>
          </a:p>
        </p:txBody>
      </p:sp>
      <p:sp>
        <p:nvSpPr>
          <p:cNvPr id="13" name="footer"/>
          <p:cNvSpPr txBox="1"/>
          <p:nvPr/>
        </p:nvSpPr>
        <p:spPr>
          <a:xfrm>
            <a:off x="548640" y="6473952"/>
            <a:ext cx="8229600" cy="274320"/>
          </a:xfrm>
          <a:prstGeom prst="rect">
            <a:avLst/>
          </a:prstGeom>
          <a:noFill/>
        </p:spPr>
        <p:txBody>
          <a:bodyPr wrap="square" lIns="0" rIns="0" tIns="0" bIns="0" anchor="t">
            <a:spAutoFit/>
          </a:bodyPr>
          <a:lstStyle/>
          <a:p>
            <a:pPr algn="l"/>
            <a:r>
              <a:rPr sz="1100" b="0" i="0">
                <a:solidFill>
                  <a:srgbClr val="5FB8B0"/>
                </a:solidFill>
                <a:latin typeface="Calibri"/>
              </a:rPr>
              <a:t>Simulated data · ASSUMED signal program</a:t>
            </a:r>
          </a:p>
        </p:txBody>
      </p:sp>
      <p:sp>
        <p:nvSpPr>
          <p:cNvPr id="14" name="page"/>
          <p:cNvSpPr txBox="1"/>
          <p:nvPr/>
        </p:nvSpPr>
        <p:spPr>
          <a:xfrm>
            <a:off x="10728655" y="6473952"/>
            <a:ext cx="914400" cy="274320"/>
          </a:xfrm>
          <a:prstGeom prst="rect">
            <a:avLst/>
          </a:prstGeom>
          <a:noFill/>
        </p:spPr>
        <p:txBody>
          <a:bodyPr wrap="square" lIns="0" rIns="0" tIns="0" bIns="0" anchor="t">
            <a:spAutoFit/>
          </a:bodyPr>
          <a:lstStyle/>
          <a:p>
            <a:pPr algn="r"/>
            <a:r>
              <a:rPr sz="1100" b="0" i="0">
                <a:solidFill>
                  <a:srgbClr val="5FB8B0"/>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Traffic Twin: final presentation</dc:title>
  <dc:subject>Digital twin of the Pitié-Salpêtrière junction (simulated data)</dc:subject>
  <dc:creator>Motez Jerbi, mrvolcon1</dc:creator>
  <cp:keywords>SUMO; traffic signal control; reinforcement learning; digital twin</cp:keywords>
  <dc:description>Built from docs/report/facts.json, code 9b233e0</dc:description>
  <cp:lastModifiedBy>traffic_twin.report.slides</cp:lastModifiedBy>
  <cp:revision>1</cp:revision>
  <dcterms:created xsi:type="dcterms:W3CDTF">2026-10-23T12:00:00Z</dcterms:created>
  <dcterms:modified xsi:type="dcterms:W3CDTF">2026-10-23T12:00:00Z</dcterms:modified>
  <cp:category/>
  <cp:lastPrinted>2026-10-23T12:00:00Z</cp:lastPrinted>
</cp:coreProperties>
</file>